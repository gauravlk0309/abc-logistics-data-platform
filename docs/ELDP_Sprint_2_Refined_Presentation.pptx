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0"/>
            <a:ext cx="4069080" cy="6858000"/>
          </a:xfrm>
          <a:prstGeom prst="rect">
            <a:avLst/>
          </a:prstGeom>
          <a:solidFill>
            <a:srgbClr val="17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822960"/>
            <a:ext cx="2560320" cy="128016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89720" y="1143000"/>
            <a:ext cx="2057400" cy="128016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46920" y="1463040"/>
            <a:ext cx="1554480" cy="128016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658368"/>
            <a:ext cx="1508760" cy="283464"/>
          </a:xfrm>
          <a:prstGeom prst="round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" y="672084"/>
            <a:ext cx="1444751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00" b="1" i="0">
                <a:solidFill>
                  <a:srgbClr val="0F1C31"/>
                </a:solidFill>
                <a:latin typeface="Aptos"/>
              </a:rPr>
              <a:t>SPRINT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53312"/>
            <a:ext cx="75895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4300" b="1" i="0">
                <a:solidFill>
                  <a:srgbClr val="FFFFFF"/>
                </a:solidFill>
                <a:latin typeface="Aptos Display"/>
              </a:rPr>
              <a:t>SPRINT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7132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700" b="1" i="0">
                <a:solidFill>
                  <a:srgbClr val="5BD3CC"/>
                </a:solidFill>
                <a:latin typeface="Aptos Display"/>
              </a:rPr>
              <a:t>Data Profiling &amp;
Data 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01568"/>
            <a:ext cx="67665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600" b="0" i="0">
                <a:solidFill>
                  <a:srgbClr val="FFFFFF"/>
                </a:solidFill>
                <a:latin typeface="Aptos"/>
              </a:rPr>
              <a:t>ABC Logistics
Enterprise Logistics Data Platform (ELDP)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315968"/>
            <a:ext cx="685800" cy="50292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599432"/>
            <a:ext cx="7040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CCDCEE"/>
                </a:solidFill>
                <a:latin typeface="Aptos"/>
              </a:rPr>
              <a:t>Python  •  Pandas  •  PostgreSQL  •  Star Schema  •  Pentaho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051560"/>
            <a:ext cx="2423160" cy="658368"/>
          </a:xfrm>
          <a:prstGeom prst="roundRect">
            <a:avLst/>
          </a:prstGeom>
          <a:solidFill>
            <a:srgbClr val="E0F6F3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1124712"/>
            <a:ext cx="22768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SILVER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331720"/>
            <a:ext cx="2423160" cy="658368"/>
          </a:xfrm>
          <a:prstGeom prst="roundRect">
            <a:avLst/>
          </a:prstGeom>
          <a:solidFill>
            <a:srgbClr val="E4EFFC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2404872"/>
            <a:ext cx="22768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GOLD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611880"/>
            <a:ext cx="2423160" cy="658368"/>
          </a:xfrm>
          <a:prstGeom prst="roundRect">
            <a:avLst/>
          </a:prstGeom>
          <a:solidFill>
            <a:srgbClr val="FFF5E0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685032"/>
            <a:ext cx="22768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REPORTING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040112" y="1719072"/>
            <a:ext cx="0" cy="548640"/>
          </a:xfrm>
          <a:prstGeom prst="line">
            <a:avLst/>
          </a:prstGeom>
          <a:ln w="21590">
            <a:solidFill>
              <a:srgbClr val="5B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40112" y="2999232"/>
            <a:ext cx="0" cy="548640"/>
          </a:xfrm>
          <a:prstGeom prst="line">
            <a:avLst/>
          </a:prstGeom>
          <a:ln w="21590">
            <a:solidFill>
              <a:srgbClr val="5B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68512" y="4983480"/>
            <a:ext cx="2743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From cleaned data
to trusted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10528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00" b="1" i="0">
                <a:solidFill>
                  <a:srgbClr val="B4C6D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01 • PURPOSE &amp;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Sprint 2 |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A9F9D"/>
                </a:solidFill>
                <a:latin typeface="Aptos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100" b="1" i="0">
                <a:solidFill>
                  <a:srgbClr val="172B48"/>
                </a:solidFill>
                <a:latin typeface="Aptos"/>
              </a:rPr>
              <a:t>Convert cleaned logistics data into a trusted, analytics-ready PostgreSQL warehouse.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35021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487168"/>
            <a:ext cx="68580" cy="14173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2596896"/>
            <a:ext cx="32095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1" i="0">
                <a:solidFill>
                  <a:srgbClr val="172B48"/>
                </a:solidFill>
                <a:latin typeface="Aptos"/>
              </a:rPr>
              <a:t>01 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2962656"/>
            <a:ext cx="3209544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243245"/>
                </a:solidFill>
                <a:latin typeface="Aptos"/>
              </a:rPr>
              <a:t>Understand structure, missing values, duplicates and validity.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87168"/>
            <a:ext cx="35021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487168"/>
            <a:ext cx="68580" cy="141732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596896"/>
            <a:ext cx="32095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1" i="0">
                <a:solidFill>
                  <a:srgbClr val="172B48"/>
                </a:solidFill>
                <a:latin typeface="Aptos"/>
              </a:rPr>
              <a:t>02  STANDARDIZE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962656"/>
            <a:ext cx="3209544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243245"/>
                </a:solidFill>
                <a:latin typeface="Aptos"/>
              </a:rPr>
              <a:t>Prepare consistent reference data and document quality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87168"/>
            <a:ext cx="350215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487168"/>
            <a:ext cx="68580" cy="1417320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2596896"/>
            <a:ext cx="320954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1" i="0">
                <a:solidFill>
                  <a:srgbClr val="172B48"/>
                </a:solidFill>
                <a:latin typeface="Aptos"/>
              </a:rPr>
              <a:t>03  MODEL &amp;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962656"/>
            <a:ext cx="3209544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243245"/>
                </a:solidFill>
                <a:latin typeface="Aptos"/>
              </a:rPr>
              <a:t>Build 5 dimensions and 10 fact tables in PostgreSQL Gold.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500" b="1" i="0">
                <a:solidFill>
                  <a:srgbClr val="172B48"/>
                </a:solidFill>
                <a:latin typeface="Aptos"/>
              </a:rPr>
              <a:t>Deliverables 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3200400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" y="4905755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Profiling 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2272" y="4892040"/>
            <a:ext cx="3200400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4276" y="4905755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Quality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4892040"/>
            <a:ext cx="3200400" cy="283464"/>
          </a:xfrm>
          <a:prstGeom prst="round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5028" y="4905755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Star Schema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22392"/>
            <a:ext cx="3200400" cy="283464"/>
          </a:xfrm>
          <a:prstGeom prst="round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" y="5436107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PostgreSQL DW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5422392"/>
            <a:ext cx="3200400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4276" y="5436107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SQL scripts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3024" y="5422392"/>
            <a:ext cx="3200400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5028" y="5436107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Git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Pentaho transformations are a required ETL deliverable; final execution should be verified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02 • 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Architecture | From sources to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240280" cy="658368"/>
          </a:xfrm>
          <a:prstGeom prst="roundRect">
            <a:avLst/>
          </a:prstGeom>
          <a:solidFill>
            <a:srgbClr val="E4EFFC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490472"/>
            <a:ext cx="2093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SOURCE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" y="1773936"/>
            <a:ext cx="2075688" cy="256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TMS • OMS • WMS • ERP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2240280" cy="658368"/>
          </a:xfrm>
          <a:prstGeom prst="roundRect">
            <a:avLst/>
          </a:prstGeom>
          <a:solidFill>
            <a:srgbClr val="FFF5E0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404872"/>
            <a:ext cx="2093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" y="2688336"/>
            <a:ext cx="2075688" cy="256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Raw / landed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240280" cy="658368"/>
          </a:xfrm>
          <a:prstGeom prst="roundRect">
            <a:avLst/>
          </a:prstGeom>
          <a:solidFill>
            <a:srgbClr val="E0F6F3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1" y="3319272"/>
            <a:ext cx="2093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" y="3602736"/>
            <a:ext cx="2075688" cy="256031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Cleaned / validated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55648" y="2084831"/>
            <a:ext cx="0" cy="210313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55648" y="2999232"/>
            <a:ext cx="0" cy="210312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03320" y="1600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1673352"/>
            <a:ext cx="2779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172B48"/>
                </a:solidFill>
                <a:latin typeface="Aptos"/>
              </a:rPr>
              <a:t>PYTHON + 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5615" y="1956816"/>
            <a:ext cx="276148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Profiling • quality • master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246120"/>
            <a:ext cx="2926080" cy="914400"/>
          </a:xfrm>
          <a:prstGeom prst="roundRect">
            <a:avLst/>
          </a:prstGeom>
          <a:solidFill>
            <a:srgbClr val="E4EFFC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76472" y="3319272"/>
            <a:ext cx="2779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172B48"/>
                </a:solidFill>
                <a:latin typeface="Aptos"/>
              </a:rPr>
              <a:t>GOLD WAREHOUSE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5615" y="3602736"/>
            <a:ext cx="276148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5 dimensions • 10 facts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926080" y="2423160"/>
            <a:ext cx="731520" cy="1143000"/>
          </a:xfrm>
          <a:prstGeom prst="line">
            <a:avLst/>
          </a:prstGeom>
          <a:ln w="21590">
            <a:solidFill>
              <a:srgbClr val="1A9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6360" y="2542032"/>
            <a:ext cx="0" cy="658368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26679" y="160020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99831" y="1673352"/>
            <a:ext cx="3328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172B48"/>
                </a:solidFill>
                <a:latin typeface="Aptos"/>
              </a:rPr>
              <a:t>PENTAHO ETL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975" y="1956816"/>
            <a:ext cx="33101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Table Input → processing → Table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246120"/>
            <a:ext cx="3474720" cy="914400"/>
          </a:xfrm>
          <a:prstGeom prst="roundRect">
            <a:avLst/>
          </a:prstGeom>
          <a:solidFill>
            <a:srgbClr val="FFF5E0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9831" y="3319272"/>
            <a:ext cx="3328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172B48"/>
                </a:solidFill>
                <a:latin typeface="Aptos"/>
              </a:rPr>
              <a:t>SQL / BI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8975" y="3602736"/>
            <a:ext cx="33101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Reports • KPIs • Power BI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675120" y="2423160"/>
            <a:ext cx="1005840" cy="1280160"/>
          </a:xfrm>
          <a:prstGeom prst="line">
            <a:avLst/>
          </a:prstGeom>
          <a:ln w="21590">
            <a:solidFill>
              <a:srgbClr val="1A9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64040" y="2542032"/>
            <a:ext cx="0" cy="658368"/>
          </a:xfrm>
          <a:prstGeom prst="line">
            <a:avLst/>
          </a:prstGeom>
          <a:ln w="21590">
            <a:solidFill>
              <a:srgbClr val="F2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" y="4663440"/>
            <a:ext cx="10515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63440"/>
            <a:ext cx="68580" cy="86868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4773168"/>
            <a:ext cx="10222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72B48"/>
                </a:solidFill>
                <a:latin typeface="Aptos"/>
              </a:rPr>
              <a:t>Implementation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" y="5138927"/>
            <a:ext cx="1022299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Python/Pandas created and loaded the Gold tables. Pentaho is the separate ETL implementation to execute and validate; the two paths should not be confused.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Architecture is simplified for presentation; each fact has its own appropriate source and dimension lookups.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03 •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Source inventory | Operational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34440"/>
          <a:ext cx="109270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672084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 rows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Business information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TMS shipments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1,515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Shipment lifecycle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WMS inventory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1,300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Stock and warehouse bins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Fleet management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Fleet / maintenance events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GPS tracking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2,538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Vehicle location pings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OMS orders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1,218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Customer orders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Inventory movements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1,400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Stock movements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Vendor portal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1,100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Purchase orders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Shipment tracking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2,000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Shipment status events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Customer feedback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Ratings / delivery feedback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IoT sensor data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2,200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Shipment sensor readings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8" y="5870448"/>
            <a:ext cx="10515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950" b="0" i="0">
                <a:solidFill>
                  <a:srgbClr val="67778C"/>
                </a:solidFill>
                <a:latin typeface="Aptos"/>
              </a:rPr>
              <a:t>ERP master sources: 600 customers • 45 suppliers • 15 warehouses • 60 vehicles • 150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Counts are project-recorded input counts; Silver counts are shown on the reconciliation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04 • UNDERSTAND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Data profiling | Python +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645920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01 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29384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Read Silver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093976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572768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645920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02  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1929384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Rows, columns, types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4608" y="2093976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30368" y="1572768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645920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03 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1929384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NULLs, duplicates, unique values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8896" y="2093976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34656" y="1572768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1645920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04 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1929384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Ranges, formats, IDs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73184" y="2093976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38944" y="1572768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1645920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05  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1929384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Findings and row changes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2004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200400"/>
            <a:ext cx="68580" cy="150876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3310128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72B48"/>
                </a:solidFill>
                <a:latin typeface="Aptos"/>
              </a:rPr>
              <a:t>Pandas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3675887"/>
            <a:ext cx="4782312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243245"/>
                </a:solidFill>
                <a:latin typeface="Aptos"/>
              </a:rPr>
              <a:t>df.shape • df.dtypes • df.head()
df.isna().sum() • df.duplicated().sum()
Value counts and column-specific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0040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8" y="3200400"/>
            <a:ext cx="68580" cy="150876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3310128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400" b="1" i="0">
                <a:solidFill>
                  <a:srgbClr val="172B48"/>
                </a:solidFill>
                <a:latin typeface="Aptos"/>
              </a:rPr>
              <a:t>Why profiling mattered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9944" y="3675887"/>
            <a:ext cx="4782312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0" i="0">
                <a:solidFill>
                  <a:srgbClr val="243245"/>
                </a:solidFill>
                <a:latin typeface="Aptos"/>
              </a:rPr>
              <a:t>Measured baseline before cleaning
Identified risky fields and anomalies
Created evidence for the 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5780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Output: a documented view of completeness, uniqueness, validity and consistency.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Pandas was used for profiling and data processing; SQLAlchemy was used where database connectivity was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05 • TRUST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Data quality | Rules and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840480"/>
                <a:gridCol w="489204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Quality issue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Project example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Duplicates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TMS, OMS, GPS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Remove identified duplicates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Invalid values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Negative distance, quantity, fuel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Remove when business-invalid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Invalid ranges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GPS latitude; feedback rating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Remove invalid records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Missing but meaningful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Delivery date, GPS speed, humidity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Preserve where legitimate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Missing reference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66 movement rows lack warehouse_id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Keep row; dimension key remains NULL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Inconsistent formats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Status, priority, currency, UOM, dates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Normalize / parse consistently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532120"/>
            <a:ext cx="2971800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" y="5545836"/>
            <a:ext cx="29077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Important: NULL ≠ invalid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5513832"/>
            <a:ext cx="7223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1" i="0">
                <a:solidFill>
                  <a:srgbClr val="172B48"/>
                </a:solidFill>
                <a:latin typeface="Aptos"/>
              </a:rPr>
              <a:t>IoT readings ≥ 50°C were retained; no documented threshold was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Cleaning decisions were based on business meaning, not blanket removal of incomplete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06 • CLEANING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Data reconciliation | Raw → Silver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43000"/>
          <a:ext cx="11338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914400"/>
                <a:gridCol w="594360"/>
                <a:gridCol w="6812280"/>
              </a:tblGrid>
              <a:tr h="44888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Dataset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Raw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Δ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action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Customer feedback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980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−20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Invalid ratings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Fleet management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982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−18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Negative fuel records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GPS tracking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2,538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2,436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−102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38 duplicate IDs + 64 invalid latitude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Inventory movements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1,400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1,400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Preserved 66 missing warehouse IDs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IoT sensor data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2,200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2,200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Preserved 62 missing humidity values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OMS orders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1,218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1,200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−18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Duplicate records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Shipment tracking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2,000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2,000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Timestamp parsing; optional NULLs preserved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TMS shipments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1,515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1,467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−48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15 duplicates + 33 negative distance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Vendor portal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1,100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1,100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Currency/date standardization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WMS inventory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1,300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1,291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−9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Negative quantities removed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Every row-count change should be explainable in the Data Quality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07 • MASTER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Master data | Standardize reference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68580" cy="132588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435607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01368"/>
            <a:ext cx="4818888" cy="78638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erp_customers → silver.customer_master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600 rows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Checked IDs, NULLs, blanks and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8580" cy="132588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435607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SUPPLIERS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01368"/>
            <a:ext cx="4818888" cy="78638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erp_suppliers → silver.supplier_master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45 rows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Checked IDs, NULLs, blanks and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68580" cy="1325880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172968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WAREHOUSES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4818888" cy="78638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erp_warehouses → silver.warehouse_master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15 rows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Checked IDs, NULLs, blanks and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0749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68580" cy="1325880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172968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818888" cy="78638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erp_vehicles → silver.vehicle_master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60 rows</a:t>
            </a:r>
          </a:p>
          <a:p>
            <a:pPr>
              <a:spcAft>
                <a:spcPts val="300"/>
              </a:spcAft>
              <a:defRPr sz="1050">
                <a:solidFill>
                  <a:srgbClr val="243245"/>
                </a:solidFill>
                <a:latin typeface="Aptos"/>
              </a:defRPr>
            </a:pPr>
            <a:r>
              <a:t>•  Checked IDs, NULLs, blanks and 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92040"/>
            <a:ext cx="10469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892040"/>
            <a:ext cx="68580" cy="658368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001768"/>
            <a:ext cx="101772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72B48"/>
                </a:solidFill>
                <a:latin typeface="Aptos"/>
              </a:rPr>
              <a:t>Relationship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5367527"/>
            <a:ext cx="10177272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00" b="0" i="0">
                <a:solidFill>
                  <a:srgbClr val="243245"/>
                </a:solidFill>
                <a:latin typeface="Aptos"/>
              </a:rPr>
              <a:t>All 60 vehicle master records referenced valid warehouses.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erp_vehicles is the master source; fleet_management contains operational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08 • DATA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Star Schema | Analytical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40280"/>
            <a:ext cx="2743200" cy="914400"/>
          </a:xfrm>
          <a:prstGeom prst="roundRect">
            <a:avLst/>
          </a:prstGeom>
          <a:solidFill>
            <a:srgbClr val="E4EFFC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2313432"/>
            <a:ext cx="25968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172B48"/>
                </a:solidFill>
                <a:latin typeface="Aptos"/>
              </a:rPr>
              <a:t>FACT_SHIPMENT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1416" y="2596896"/>
            <a:ext cx="257860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1 row per shipment • measures +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234440"/>
            <a:ext cx="2331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07592"/>
            <a:ext cx="2185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DIM_CUSTOMER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591056"/>
            <a:ext cx="216712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Customer attributes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2331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005072"/>
            <a:ext cx="2185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DIM_VEHICLE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88536"/>
            <a:ext cx="216712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Vehicle 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34440"/>
            <a:ext cx="2331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307592"/>
            <a:ext cx="2185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DIM_WAREHOUSE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1591056"/>
            <a:ext cx="216712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Warehouse attributes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931920"/>
            <a:ext cx="23317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4005072"/>
            <a:ext cx="21854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DIM_PRODUCT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4288536"/>
            <a:ext cx="2167127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Product attributes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60" y="1645920"/>
            <a:ext cx="1280160" cy="841248"/>
          </a:xfrm>
          <a:prstGeom prst="line">
            <a:avLst/>
          </a:prstGeom>
          <a:ln w="21590">
            <a:solidFill>
              <a:srgbClr val="1A9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108960" y="2880360"/>
            <a:ext cx="1280160" cy="1417320"/>
          </a:xfrm>
          <a:prstGeom prst="line">
            <a:avLst/>
          </a:prstGeom>
          <a:ln w="21590">
            <a:solidFill>
              <a:srgbClr val="5BD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132320" y="1645920"/>
            <a:ext cx="1965960" cy="841248"/>
          </a:xfrm>
          <a:prstGeom prst="line">
            <a:avLst/>
          </a:prstGeom>
          <a:ln w="21590">
            <a:solidFill>
              <a:srgbClr val="F2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132320" y="2880360"/>
            <a:ext cx="1965960" cy="1417320"/>
          </a:xfrm>
          <a:prstGeom prst="line">
            <a:avLst/>
          </a:prstGeom>
          <a:ln w="21590">
            <a:solidFill>
              <a:srgbClr val="1A9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3657600"/>
            <a:ext cx="3200400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92524" y="3671315"/>
            <a:ext cx="31363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 DIMENSIONS  /  10 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251960"/>
            <a:ext cx="45720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0" i="0">
                <a:solidFill>
                  <a:srgbClr val="243245"/>
                </a:solidFill>
                <a:latin typeface="Aptos"/>
              </a:rPr>
              <a:t>Fact grain examples:
1 shipment • 1 order • 1 GPS ping • 1 sensor 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Illustrative relationship: dimensions connect to relevant facts; fact-to-fact joins are avoided.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09 • GOLD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Dimension tables | Descriptive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270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914400"/>
                <a:gridCol w="2011680"/>
                <a:gridCol w="5760720"/>
              </a:tblGrid>
              <a:tr h="5638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Surrogate key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64008" marR="36576" marT="27432" marB="18288">
                    <a:solidFill>
                      <a:srgbClr val="172B4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dim_customer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600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customer_key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Customer identity / contact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dim_supplier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supplier_key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Supplier identity / category / rating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dim_warehouse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warehouse_key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Warehouse identity / location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dim_vehicle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60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vehicle_key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Vehicle type / capacity / status</a:t>
                      </a:r>
                    </a:p>
                  </a:txBody>
                  <a:tcPr marL="64008" marR="36576" marT="18288" marB="18288">
                    <a:solidFill>
                      <a:srgbClr val="F1F5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dim_product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product_key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5"/>
                          </a:solidFill>
                          <a:latin typeface="Aptos"/>
                        </a:defRPr>
                      </a:pPr>
                      <a:r>
                        <a:t>Product name / category / price / weight</a:t>
                      </a:r>
                    </a:p>
                  </a:txBody>
                  <a:tcPr marL="64008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892040"/>
            <a:ext cx="4983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892040"/>
            <a:ext cx="68580" cy="82296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001768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Business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367527"/>
            <a:ext cx="469087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customer_id = C001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892040"/>
            <a:ext cx="4983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892040"/>
            <a:ext cx="68580" cy="82296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5001768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Surrogate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5367527"/>
            <a:ext cx="4690872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customer_key =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Surrogate keys are warehouse-generated identifiers; source business IDs remain for traceability.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10 • GOLD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Fact tables | Business events and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88720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261872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FACT_SHIPMENT  |  1,467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545336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shipment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1188720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FACT_ORDER  |  1,200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545336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084832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157984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FACT_FLEET_EVENT  |  982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441448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fleet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084832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157984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FACT_INVENTORY_MOVEMENT  |  1,400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441448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stock movement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80944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054096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FACT_INVENTORY_SNAPSHOT  |  1,291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3337560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stock record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980944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54096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FACT_PURCHASE_ORDER  |  1,100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337560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purchase-order record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77056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3950208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FACT_CUSTOMER_FEEDBACK  |  980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233672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feedback record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5936" y="3877056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950208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FACT_SHIPMENT_TRACKING  |  2,000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233672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tracking 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73168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846320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FACT_GPS_TRACKING  |  2,436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5129783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GPS ping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45936" y="4773168"/>
            <a:ext cx="5230368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846320"/>
            <a:ext cx="508406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50" b="1" i="0">
                <a:solidFill>
                  <a:srgbClr val="172B48"/>
                </a:solidFill>
                <a:latin typeface="Aptos"/>
              </a:rPr>
              <a:t>FACT_SENSOR_READING  |  2,200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5129783"/>
            <a:ext cx="506577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0" i="0">
                <a:solidFill>
                  <a:srgbClr val="67778C"/>
                </a:solidFill>
                <a:latin typeface="Aptos"/>
              </a:rPr>
              <a:t>One sensor reading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Counts match the verified Gold loads / Silver counts recorded in the project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11 • HOW TABLES WERE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Gold implementation | Python +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73352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READ SILVER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56816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Pandas / SQLAlchemy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2121408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98648" y="16002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73352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MAP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956816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Business ID → surrogate key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37176" y="2121408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02936" y="16002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673352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1956816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Select columns, names, types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41464" y="2121408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07224" y="16002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6" y="1673352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LOAD 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956816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Write tables to PostgreSQL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45752" y="2121408"/>
            <a:ext cx="32004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11512" y="16002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4664" y="1673352"/>
            <a:ext cx="17739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 i="0">
                <a:solidFill>
                  <a:srgbClr val="172B48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1956816"/>
            <a:ext cx="1755648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Counts, duplicates, references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2461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246120"/>
            <a:ext cx="68580" cy="14173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355848"/>
            <a:ext cx="47365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Implementation outcomes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21608"/>
            <a:ext cx="4773168" cy="87782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5 dimension scripts created / loaded</a:t>
            </a:r>
          </a:p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10 fact scripts created / loaded</a:t>
            </a:r>
          </a:p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Gold tables persist in PostgreSQL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4612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246120"/>
            <a:ext cx="68580" cy="141732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3355848"/>
            <a:ext cx="47365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Checks performed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721608"/>
            <a:ext cx="4773168" cy="877824"/>
          </a:xfrm>
          <a:prstGeom prst="rect">
            <a:avLst/>
          </a:prstGeom>
          <a:noFill/>
        </p:spPr>
        <p:txBody>
          <a:bodyPr wrap="square" lIns="73152" rIns="54864" tIns="36576" bIns="36576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Expected row counts</a:t>
            </a:r>
          </a:p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Duplicate business IDs</a:t>
            </a:r>
          </a:p>
          <a:p>
            <a:pPr>
              <a:spcAft>
                <a:spcPts val="300"/>
              </a:spcAft>
              <a:defRPr sz="1100">
                <a:solidFill>
                  <a:srgbClr val="243245"/>
                </a:solidFill>
                <a:latin typeface="Aptos"/>
              </a:defRPr>
            </a:pPr>
            <a:r>
              <a:t>•  Dimension reference matching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72B48"/>
                </a:solidFill>
                <a:latin typeface="Aptos"/>
              </a:rPr>
              <a:t>The .py files are the loading logic; PostgreSQL tables are the persistent warehouse.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Python implementation and Pentaho ETL are separate paths; avoid replacing validated Gold tables during Pentaho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12 • REQUIRED ETL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Pentaho | Silver-to-Gold ETL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447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TABLE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silver.tms_shipments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50208" y="1828800"/>
            <a:ext cx="466344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13716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447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CUSTOMER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17282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customer_id → customer_key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44968" y="1828800"/>
            <a:ext cx="466344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13716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5BD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447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VEHICLE 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17282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vehicle_id → vehicle_key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004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2735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WAREHOUSE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warehouse_id → warehouse_key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50208" y="3657600"/>
            <a:ext cx="466344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80560" y="32004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2735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SELECT / 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35570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Shape columns + shipment_key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44968" y="3657600"/>
            <a:ext cx="466344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75320" y="320040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273552"/>
            <a:ext cx="30998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172B48"/>
                </a:solidFill>
                <a:latin typeface="Aptos"/>
              </a:rPr>
              <a:t>TABLE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557016"/>
            <a:ext cx="3081527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50" b="0" i="0">
                <a:solidFill>
                  <a:srgbClr val="67778C"/>
                </a:solidFill>
                <a:latin typeface="Aptos"/>
              </a:rPr>
              <a:t>gold.fact_shipment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50" b="1" i="0">
                <a:solidFill>
                  <a:srgbClr val="172B48"/>
                </a:solidFill>
                <a:latin typeface="Aptos"/>
              </a:rPr>
              <a:t>INPUT = source  •  PROCESS = lookup / map / validate  •  OUTPUT = Gold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Treat the .ktr as complete only after running it and validating target counts and keys.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13 • STORAGE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PostgreSQL | The implemented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40280" cy="777240"/>
          </a:xfrm>
          <a:prstGeom prst="roundRect">
            <a:avLst/>
          </a:prstGeom>
          <a:solidFill>
            <a:srgbClr val="E4EFFC"/>
          </a:solidFill>
          <a:ln>
            <a:solidFill>
              <a:srgbClr val="2F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2093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DATABASE: eldp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28216"/>
            <a:ext cx="2075688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PostgreSQL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1755648"/>
            <a:ext cx="64008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1371600"/>
            <a:ext cx="2560320" cy="777240"/>
          </a:xfrm>
          <a:prstGeom prst="roundRect">
            <a:avLst/>
          </a:prstGeom>
          <a:solidFill>
            <a:srgbClr val="E0F6F3"/>
          </a:solidFill>
          <a:ln>
            <a:solidFill>
              <a:srgbClr val="1A9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1" y="1444752"/>
            <a:ext cx="241401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SILVER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5" y="1728216"/>
            <a:ext cx="2395727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Cleaned datasets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5080" y="1755648"/>
            <a:ext cx="640080" cy="0"/>
          </a:xfrm>
          <a:prstGeom prst="line">
            <a:avLst/>
          </a:prstGeom>
          <a:ln w="21590"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86600" y="1371600"/>
            <a:ext cx="4069080" cy="777240"/>
          </a:xfrm>
          <a:prstGeom prst="roundRect">
            <a:avLst/>
          </a:prstGeom>
          <a:solidFill>
            <a:srgbClr val="FFF5E0"/>
          </a:solidFill>
          <a:ln>
            <a:solidFill>
              <a:srgbClr val="F2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444752"/>
            <a:ext cx="39227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 i="0">
                <a:solidFill>
                  <a:srgbClr val="172B48"/>
                </a:solidFill>
                <a:latin typeface="Aptos"/>
              </a:rPr>
              <a:t>GOLD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1728216"/>
            <a:ext cx="3904488" cy="374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0" i="0">
                <a:solidFill>
                  <a:srgbClr val="67778C"/>
                </a:solidFill>
                <a:latin typeface="Aptos"/>
              </a:rPr>
              <a:t>5 dimensions + 10 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69748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697480"/>
            <a:ext cx="68580" cy="14173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2807208"/>
            <a:ext cx="47365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Why PostgreSQL?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3172968"/>
            <a:ext cx="4736592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Persistent central storage
SQL-based querying and validation
Supports reporting and downstream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697480"/>
            <a:ext cx="5029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697480"/>
            <a:ext cx="68580" cy="141732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807208"/>
            <a:ext cx="47365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Why the Gold layer?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172968"/>
            <a:ext cx="4736592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Business-oriented data model
Facts store events and measures
Dimensions add descriptive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17720"/>
            <a:ext cx="104241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PostgreSQL is the database platform. The Gold schema and its Star Schema tables form the implemented warehouse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This distinction is useful in project reviews and viva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14 •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SQL reporting |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68580" cy="11887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52704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SHIPMENTS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" y="189280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Counts by status; freight and weight totals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68580" cy="118872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52704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189280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Quantity on hand by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68580" cy="1188720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152704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FLEET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189280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Fuel and maintenance by vehicle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68580" cy="1188720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" y="317296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SUPPLIERS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" y="353872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Purchase-order counts and quantities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06324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68580" cy="1188720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317296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353872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Feedback counts and average ratings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063240"/>
            <a:ext cx="3520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063240"/>
            <a:ext cx="68580" cy="118872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3172968"/>
            <a:ext cx="32278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172B48"/>
                </a:solidFill>
                <a:latin typeface="Aptos"/>
              </a:rPr>
              <a:t>SENSORS / GPS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3538728"/>
            <a:ext cx="3227832" cy="649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Telemetry summaries and 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66360"/>
            <a:ext cx="10424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72B48"/>
                </a:solidFill>
                <a:latin typeface="Aptos"/>
              </a:rPr>
              <a:t>Typical SQL pattern: GROUP BY status, warehouse, vehicle, supplier or customer.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Query examples were prepared; final repository files should be checked before marking the SQL deliverable complete.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15 •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Validation | Counts, keys and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148840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" y="1248156"/>
            <a:ext cx="208483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ROW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243584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0" i="0">
                <a:solidFill>
                  <a:srgbClr val="243245"/>
                </a:solidFill>
                <a:latin typeface="Aptos"/>
              </a:rPr>
              <a:t>Compare expected Silver rows with Gold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47672"/>
            <a:ext cx="2148840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" y="1961388"/>
            <a:ext cx="208483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UNIQUENESS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956815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0" i="0">
                <a:solidFill>
                  <a:srgbClr val="243245"/>
                </a:solidFill>
                <a:latin typeface="Aptos"/>
              </a:rPr>
              <a:t>Check duplicate business identifiers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60904"/>
            <a:ext cx="2148840" cy="283464"/>
          </a:xfrm>
          <a:prstGeom prst="round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" y="2674620"/>
            <a:ext cx="208483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KEY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70048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0" i="0">
                <a:solidFill>
                  <a:srgbClr val="243245"/>
                </a:solidFill>
                <a:latin typeface="Aptos"/>
              </a:rPr>
              <a:t>Check dimension keys resolve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74136"/>
            <a:ext cx="2148840" cy="283464"/>
          </a:xfrm>
          <a:prstGeom prst="round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" y="3387852"/>
            <a:ext cx="208483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383279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0" i="0">
                <a:solidFill>
                  <a:srgbClr val="243245"/>
                </a:solidFill>
                <a:latin typeface="Aptos"/>
              </a:rPr>
              <a:t>Check unexpected NULLs / invalid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87368"/>
            <a:ext cx="2148840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" y="4101084"/>
            <a:ext cx="208483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EXCEPTIONS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096512"/>
            <a:ext cx="79552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0" i="0">
                <a:solidFill>
                  <a:srgbClr val="243245"/>
                </a:solidFill>
                <a:latin typeface="Aptos"/>
              </a:rPr>
              <a:t>Document preserved missing references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07492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074920"/>
            <a:ext cx="68580" cy="777240"/>
          </a:xfrm>
          <a:prstGeom prst="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184648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172B48"/>
                </a:solidFill>
                <a:latin typeface="Aptos"/>
              </a:rPr>
              <a:t>Documented exception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" y="5550408"/>
            <a:ext cx="4690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00" b="0" i="0">
                <a:solidFill>
                  <a:srgbClr val="243245"/>
                </a:solidFill>
                <a:latin typeface="Aptos"/>
              </a:rPr>
              <a:t>66 movements lack warehouse_id.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7492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68580" cy="777240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5184648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172B48"/>
                </a:solidFill>
                <a:latin typeface="Aptos"/>
              </a:rPr>
              <a:t>Documented exception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5550408"/>
            <a:ext cx="469087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00" b="0" i="0">
                <a:solidFill>
                  <a:srgbClr val="243245"/>
                </a:solidFill>
                <a:latin typeface="Aptos"/>
              </a:rPr>
              <a:t>62 sensor rows lack humidity.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An exception can be acceptable when preserved intentionally and clearly documented.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"/>
          </a:xfrm>
          <a:prstGeom prst="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50" b="1" i="0">
                <a:solidFill>
                  <a:srgbClr val="1A9F9D"/>
                </a:solidFill>
                <a:latin typeface="Aptos"/>
              </a:rPr>
              <a:t>16 •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500" b="1" i="0">
                <a:solidFill>
                  <a:srgbClr val="172B48"/>
                </a:solidFill>
                <a:latin typeface="Aptos Display"/>
              </a:rPr>
              <a:t>Documentation | Repository and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56248"/>
            <a:ext cx="886968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750" b="1" i="0">
                <a:solidFill>
                  <a:srgbClr val="67778C"/>
                </a:solidFill>
                <a:latin typeface="Aptos"/>
              </a:rPr>
              <a:t>ABC LOGISTICS  /  ELDP  / 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7778C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2344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Profiling report, quality report, Star Schema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python/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Pandas profiling, dimension and fact 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pentaho/transformations/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2316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Silver-to-Gold .ktr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sql/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1752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Reporting, validation and quality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tests/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61188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Repeatable data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3063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50" b="1" i="0">
                <a:solidFill>
                  <a:srgbClr val="2F6FBF"/>
                </a:solidFill>
                <a:latin typeface="Aptos"/>
              </a:rPr>
              <a:t>README.md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06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100" b="0" i="0">
                <a:solidFill>
                  <a:srgbClr val="243245"/>
                </a:solidFill>
                <a:latin typeface="Aptos"/>
              </a:rPr>
              <a:t>Setup, run order, architecture and deliverables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66360"/>
            <a:ext cx="10469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166360"/>
            <a:ext cx="68580" cy="713232"/>
          </a:xfrm>
          <a:prstGeom prst="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5276088"/>
            <a:ext cx="101772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200" b="1" i="0">
                <a:solidFill>
                  <a:srgbClr val="172B48"/>
                </a:solidFill>
                <a:latin typeface="Aptos"/>
              </a:rPr>
              <a:t>Release 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" y="5641848"/>
            <a:ext cx="10177272" cy="173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243245"/>
                </a:solidFill>
                <a:latin typeface="Aptos"/>
              </a:rPr>
              <a:t>Review changes → git status → git add → git commit → git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99632"/>
            <a:ext cx="10972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800" b="0" i="1">
                <a:solidFill>
                  <a:srgbClr val="67778C"/>
                </a:solidFill>
                <a:latin typeface="Aptos"/>
              </a:rPr>
              <a:t>Never commit passwords, .env files, virtual environments or local caches.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600200" cy="283464"/>
          </a:xfrm>
          <a:prstGeom prst="round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524" y="608076"/>
            <a:ext cx="1536192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00" b="1" i="0">
                <a:solidFill>
                  <a:srgbClr val="0F1C31"/>
                </a:solidFill>
                <a:latin typeface="Aptos"/>
              </a:rPr>
              <a:t>SPRINT 2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2900" b="1" i="0">
                <a:solidFill>
                  <a:srgbClr val="FFFFFF"/>
                </a:solidFill>
                <a:latin typeface="Aptos Display"/>
              </a:rPr>
              <a:t>Outcome &amp; finalization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115568" cy="283464"/>
          </a:xfrm>
          <a:prstGeom prst="round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" y="1979676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0F1C31"/>
                </a:solidFill>
                <a:latin typeface="Aptos"/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112" y="1965960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Pandas profiling, data-quality analysis and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965960"/>
            <a:ext cx="1115568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1979676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1" y="1965960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Master standardization and Star Schema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44952"/>
            <a:ext cx="1115568" cy="283464"/>
          </a:xfrm>
          <a:prstGeom prst="round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" y="3058668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044952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5 dimensions + 10 Gold facts loaded via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044952"/>
            <a:ext cx="1115568" cy="283464"/>
          </a:xfrm>
          <a:prstGeom prst="roundRect">
            <a:avLst/>
          </a:prstGeom>
          <a:solidFill>
            <a:srgbClr val="F2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058668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0F1C31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044952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Pentaho .ktr execution and target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115568" cy="283464"/>
          </a:xfrm>
          <a:prstGeom prst="roundRect">
            <a:avLst/>
          </a:prstGeom>
          <a:solidFill>
            <a:srgbClr val="5BD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" y="4137659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0F1C31"/>
                </a:solidFill>
                <a:latin typeface="Aptos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4123944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SQL files organized and runnable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123944"/>
            <a:ext cx="1115568" cy="283464"/>
          </a:xfrm>
          <a:prstGeom prst="roundRect">
            <a:avLst/>
          </a:prstGeom>
          <a:solidFill>
            <a:srgbClr val="1A9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1364" y="4137659"/>
            <a:ext cx="1051560" cy="2331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4123944"/>
            <a:ext cx="4069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050" b="0" i="0">
                <a:solidFill>
                  <a:srgbClr val="FFFFFF"/>
                </a:solidFill>
                <a:latin typeface="Aptos"/>
              </a:rPr>
              <a:t>Git changes committed and pushed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577840"/>
            <a:ext cx="10561320" cy="18288"/>
          </a:xfrm>
          <a:prstGeom prst="rect">
            <a:avLst/>
          </a:prstGeom>
          <a:solidFill>
            <a:srgbClr val="3F5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r>
              <a:rPr sz="1300" b="1" i="0">
                <a:solidFill>
                  <a:srgbClr val="5BD3CC"/>
                </a:solidFill>
                <a:latin typeface="Aptos"/>
              </a:rPr>
              <a:t>Sprint 2 story: profile → improve quality → standardize → model → load → analyze.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00" b="1" i="0">
                <a:solidFill>
                  <a:srgbClr val="B4C6DC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