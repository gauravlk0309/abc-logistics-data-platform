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594360"/>
            <a:ext cx="2560320" cy="109728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841248"/>
            <a:ext cx="1965960" cy="109728"/>
          </a:xfrm>
          <a:prstGeom prst="round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58200" y="1088136"/>
            <a:ext cx="2286000" cy="109728"/>
          </a:xfrm>
          <a:prstGeom prst="round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1335024"/>
            <a:ext cx="1417320" cy="109728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200" y="1581912"/>
            <a:ext cx="2148840" cy="109728"/>
          </a:xfrm>
          <a:prstGeom prst="round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423160"/>
            <a:ext cx="1965960" cy="1965960"/>
          </a:xfrm>
          <a:prstGeom prst="ellipse">
            <a:avLst/>
          </a:prstGeom>
          <a:solidFill>
            <a:srgbClr val="132541"/>
          </a:solidFill>
          <a:ln w="254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10928" y="2761488"/>
            <a:ext cx="1280160" cy="1280160"/>
          </a:xfrm>
          <a:prstGeom prst="ellipse">
            <a:avLst/>
          </a:prstGeom>
          <a:solidFill>
            <a:srgbClr val="132541"/>
          </a:solidFill>
          <a:ln w="254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40112" y="3090672"/>
            <a:ext cx="621792" cy="621792"/>
          </a:xfrm>
          <a:prstGeom prst="ellipse">
            <a:avLst/>
          </a:prstGeom>
          <a:solidFill>
            <a:srgbClr val="132541"/>
          </a:solidFill>
          <a:ln w="254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8368"/>
            <a:ext cx="7132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BE"/>
                </a:solidFill>
                <a:latin typeface="Aptos"/>
              </a:rPr>
              <a:t>DATA ENGINEERING  | 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98448"/>
            <a:ext cx="73152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6F9FD"/>
                </a:solidFill>
                <a:latin typeface="Aptos Display"/>
              </a:rPr>
              <a:t>Sprint 0 &amp; 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12848"/>
            <a:ext cx="7132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ABBBCF"/>
                </a:solidFill>
                <a:latin typeface="Aptos"/>
              </a:rPr>
              <a:t>From project blueprint to reliable data 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990088"/>
            <a:ext cx="1143000" cy="54864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383280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6F9FD"/>
                </a:solidFill>
                <a:latin typeface="Aptos"/>
              </a:rPr>
              <a:t>ABC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6126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BBBCF"/>
                </a:solidFill>
                <a:latin typeface="Aptos"/>
              </a:rPr>
              <a:t>Enterprise Logistics Data Platform  •  UC7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074920"/>
            <a:ext cx="1234440" cy="292608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93207"/>
            <a:ext cx="11795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PLAN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1679" y="5221224"/>
            <a:ext cx="274321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31720" y="5074920"/>
            <a:ext cx="1234440" cy="292608"/>
          </a:xfrm>
          <a:prstGeom prst="round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1" y="5093207"/>
            <a:ext cx="11795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INGEST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93591" y="5221224"/>
            <a:ext cx="274320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913632" y="5074920"/>
            <a:ext cx="1234440" cy="292608"/>
          </a:xfrm>
          <a:prstGeom prst="round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1064" y="5093207"/>
            <a:ext cx="11795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LAND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75504" y="5221224"/>
            <a:ext cx="274320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95544" y="5074920"/>
            <a:ext cx="1234440" cy="292608"/>
          </a:xfrm>
          <a:prstGeom prst="roundRect">
            <a:avLst/>
          </a:prstGeom>
          <a:solidFill>
            <a:srgbClr val="5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5093207"/>
            <a:ext cx="11795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42432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A clear foundation for profiling, warehousing and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01  / 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THE STORY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Two sprints. One dependable data foundation.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Sprint 0 established the blueprint; Sprint 1 focused on getting diverse source data into a shared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02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74720" cy="205740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4864" cy="2057400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SPRINT 0  • 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05456"/>
            <a:ext cx="3090672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Clarify the business problem, identify source systems, choose the stack, and organize the delivery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21408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22D3BE"/>
                </a:solidFill>
                <a:latin typeface="Aptos"/>
              </a:rPr>
              <a:t>BLUEPRINT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965960"/>
            <a:ext cx="3474720" cy="205740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965960"/>
            <a:ext cx="54864" cy="2057400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SPRINT 1  •  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05456"/>
            <a:ext cx="3090672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Design format-specific Pentaho flows and PostgreSQL landing tables, with mapping and load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121408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4D94FF"/>
                </a:solidFill>
                <a:latin typeface="Aptos"/>
              </a:rPr>
              <a:t>DATA LANDING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965960"/>
            <a:ext cx="3474720" cy="205740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965960"/>
            <a:ext cx="54864" cy="205740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130552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NEXT  • 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505456"/>
            <a:ext cx="3090672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Use the landed data as the starting point for profiling, quality rules, standardization and the Gold warehouse.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2121408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FFBE55"/>
                </a:solidFill>
                <a:latin typeface="Aptos"/>
              </a:rPr>
              <a:t>SPRINT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617720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THE KEY DISTINCTION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96519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6F9FD"/>
                </a:solidFill>
                <a:latin typeface="Aptos Display"/>
              </a:rPr>
              <a:t>Ingestion moves data. Data engineering then makes it trustworthy and useful.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BBBCF"/>
                </a:solidFill>
                <a:latin typeface="Aptos"/>
              </a:rPr>
              <a:t>Scope note: this deck separates the work/design discussed from executions that still need repository or Pentaho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WHY THIS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Logistics data is connected in the business—but fragmented in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The platform creates a consistent path from operational files to later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383280" cy="33832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54864" cy="3383280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3017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THE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29992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• Separate operational systems
• Multiple file formats
• Different identifiers and field conventions
• Different event grains
• Quality issues can be hidden in source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40280"/>
            <a:ext cx="2834640" cy="26974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377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 i="0">
                <a:solidFill>
                  <a:srgbClr val="22D3BE"/>
                </a:solidFill>
                <a:latin typeface="Aptos Display"/>
              </a:rPr>
              <a:t>ELDP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46120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A shared data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822191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BBBCF"/>
                </a:solidFill>
                <a:latin typeface="Aptos"/>
              </a:rPr>
              <a:t>Ingest  •  Land  •  Validate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3456432"/>
            <a:ext cx="448056" cy="0"/>
          </a:xfrm>
          <a:prstGeom prst="line">
            <a:avLst/>
          </a:prstGeom>
          <a:ln w="25400">
            <a:solidFill>
              <a:srgbClr val="FFBE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3456432"/>
            <a:ext cx="530352" cy="0"/>
          </a:xfrm>
          <a:prstGeom prst="line">
            <a:avLst/>
          </a:prstGeom>
          <a:ln w="25400">
            <a:solidFill>
              <a:srgbClr val="22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1938528"/>
            <a:ext cx="3429000" cy="33832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38528"/>
            <a:ext cx="54864" cy="3383280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THE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78024"/>
            <a:ext cx="304495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• One place to land source data
• Repeatable ingestion patterns
• Better traceability of loaded rows
• Clear separation of ingestion and cleansing
• A foundation for reporting and warehouse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3328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Design principle: preserve source meaning first; apply deeper business-quality rules in the appropriate later layer.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SPRINT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Turn the business need into an executable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Sprint 0 was about reducing uncertainty before building the pipelines.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04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56032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640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2D3BE"/>
                </a:solidFill>
                <a:latin typeface="Aptos Display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944368"/>
            <a:ext cx="59436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75887"/>
            <a:ext cx="212140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Define the logistics reporting problem and expected business value.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3364992"/>
            <a:ext cx="256032" cy="0"/>
          </a:xfrm>
          <a:prstGeom prst="line">
            <a:avLst/>
          </a:prstGeom>
          <a:ln w="1778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2148840"/>
            <a:ext cx="256032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395728"/>
            <a:ext cx="640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4D94FF"/>
                </a:solidFill>
                <a:latin typeface="Aptos Display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3048" y="2944368"/>
            <a:ext cx="594360" cy="41148"/>
          </a:xfrm>
          <a:prstGeom prst="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675887"/>
            <a:ext cx="212140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Inventory the source datasets, formats, entities and likely relationships.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0488" y="3364992"/>
            <a:ext cx="256032" cy="0"/>
          </a:xfrm>
          <a:prstGeom prst="line">
            <a:avLst/>
          </a:prstGeom>
          <a:ln w="1778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2148840"/>
            <a:ext cx="256032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7" y="2395728"/>
            <a:ext cx="640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BE55"/>
                </a:solidFill>
                <a:latin typeface="Aptos Display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3407" y="2944368"/>
            <a:ext cx="594360" cy="41148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7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Architect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3675887"/>
            <a:ext cx="212140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Choose Pentaho, PostgreSQL, Python and a layered data approach.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0848" y="3364992"/>
            <a:ext cx="256032" cy="0"/>
          </a:xfrm>
          <a:prstGeom prst="line">
            <a:avLst/>
          </a:prstGeom>
          <a:ln w="1778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2148840"/>
            <a:ext cx="256032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2395728"/>
            <a:ext cx="640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56D397"/>
                </a:solidFill>
                <a:latin typeface="Aptos Display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3768" y="2944368"/>
            <a:ext cx="594360" cy="41148"/>
          </a:xfrm>
          <a:prstGeom prst="rect">
            <a:avLst/>
          </a:prstGeom>
          <a:solidFill>
            <a:srgbClr val="5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376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Organize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8" y="3675887"/>
            <a:ext cx="212140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Create the GitHub project structure, documentation and sprint backlog.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9379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SPRINT 0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5321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D"/>
                </a:solidFill>
                <a:latin typeface="Aptos"/>
              </a:rPr>
              <a:t>A shared scope, a technology direction, an initial architecture and a repository ready for incremental delivery.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SOURCE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11 operational files and an ERP master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The project brings together 10 operational datasets plus five master entities represented in the ERP SQL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05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2084831" cy="31546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2212848"/>
            <a:ext cx="640080" cy="64008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182D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5000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27248"/>
            <a:ext cx="17190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TMS shipments
GPS tracking
Inventory movements
Customer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1993392"/>
            <a:ext cx="2084831" cy="31546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45536" y="2212848"/>
            <a:ext cx="640080" cy="640080"/>
          </a:xfrm>
          <a:prstGeom prst="ellipse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2350008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182D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35000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3127248"/>
            <a:ext cx="17190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WMS inventory
Vendor 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6944" y="1993392"/>
            <a:ext cx="2084831" cy="31546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49824" y="2212848"/>
            <a:ext cx="640080" cy="640080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9824" y="2350008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182D"/>
                </a:solidFill>
                <a:latin typeface="Aptos"/>
              </a:rPr>
              <a:t>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35000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3127248"/>
            <a:ext cx="17190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Fleet management
Shipment tracking
IoT sensor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1232" y="1993392"/>
            <a:ext cx="2084831" cy="31546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54112" y="2212848"/>
            <a:ext cx="640080" cy="640080"/>
          </a:xfrm>
          <a:prstGeom prst="ellipse">
            <a:avLst/>
          </a:prstGeom>
          <a:solidFill>
            <a:srgbClr val="5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2350008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182D"/>
                </a:solidFill>
                <a:latin typeface="Aptos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35000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XML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3127248"/>
            <a:ext cx="17190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OMS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1993392"/>
            <a:ext cx="2084831" cy="31546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0" y="2212848"/>
            <a:ext cx="640080" cy="640080"/>
          </a:xfrm>
          <a:prstGeom prst="ellipse">
            <a:avLst/>
          </a:prstGeom>
          <a:solidFill>
            <a:srgbClr val="A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350008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C182D"/>
                </a:solidFill>
                <a:latin typeface="Aptos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235000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127248"/>
            <a:ext cx="17190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ERP master source:
Customers • Suppliers
Warehouses • Vehicles
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468112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BE"/>
                </a:solidFill>
                <a:latin typeface="Aptos"/>
              </a:rPr>
              <a:t>Why this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5440680"/>
            <a:ext cx="9052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Input format determines the Pentaho reader; source meaning determines the target mapping.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A controlled path from heterogeneous sources to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Sprint 0 defined the direction; Sprint 1 focused on ingestion and landing.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06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170432" cy="59436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305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43584" y="2606040"/>
            <a:ext cx="2916936" cy="338328"/>
          </a:xfrm>
          <a:prstGeom prst="line">
            <a:avLst/>
          </a:prstGeom>
          <a:ln w="12700">
            <a:solidFill>
              <a:srgbClr val="394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57400" y="1965960"/>
            <a:ext cx="1170432" cy="59436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1305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Excel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2616" y="2606040"/>
            <a:ext cx="1517904" cy="338328"/>
          </a:xfrm>
          <a:prstGeom prst="line">
            <a:avLst/>
          </a:prstGeom>
          <a:ln w="12700">
            <a:solidFill>
              <a:srgbClr val="394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965960"/>
            <a:ext cx="1170432" cy="59436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1" y="21305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606040"/>
            <a:ext cx="118872" cy="338328"/>
          </a:xfrm>
          <a:prstGeom prst="line">
            <a:avLst/>
          </a:prstGeom>
          <a:ln w="12700">
            <a:solidFill>
              <a:srgbClr val="394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55464" y="1965960"/>
            <a:ext cx="1170432" cy="59436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56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3" y="21305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XML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160520" y="2606040"/>
            <a:ext cx="1280159" cy="338328"/>
          </a:xfrm>
          <a:prstGeom prst="line">
            <a:avLst/>
          </a:prstGeom>
          <a:ln w="12700">
            <a:solidFill>
              <a:srgbClr val="394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54496" y="1965960"/>
            <a:ext cx="1170432" cy="59436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AE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1305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ERP SQL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160520" y="2606040"/>
            <a:ext cx="2679192" cy="338328"/>
          </a:xfrm>
          <a:prstGeom prst="line">
            <a:avLst/>
          </a:prstGeom>
          <a:ln w="12700">
            <a:solidFill>
              <a:srgbClr val="394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26080" y="2944368"/>
            <a:ext cx="2468880" cy="841248"/>
          </a:xfrm>
          <a:prstGeom prst="roundRect">
            <a:avLst/>
          </a:prstGeom>
          <a:solidFill>
            <a:srgbClr val="17435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127248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6F9FD"/>
                </a:solidFill>
                <a:latin typeface="Aptos"/>
              </a:rPr>
              <a:t>PENTAHO PDI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38144"/>
            <a:ext cx="2057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ABBBCF"/>
                </a:solidFill>
                <a:latin typeface="Aptos"/>
              </a:rPr>
              <a:t>Format-specific transformations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40680" y="3364992"/>
            <a:ext cx="960120" cy="0"/>
          </a:xfrm>
          <a:prstGeom prst="line">
            <a:avLst/>
          </a:prstGeom>
          <a:ln w="25400">
            <a:solidFill>
              <a:srgbClr val="22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73952" y="2944368"/>
            <a:ext cx="2240280" cy="841248"/>
          </a:xfrm>
          <a:prstGeom prst="roundRect">
            <a:avLst/>
          </a:prstGeom>
          <a:solidFill>
            <a:srgbClr val="1C3352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3127248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438144"/>
            <a:ext cx="1965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ABBBCF"/>
                </a:solidFill>
                <a:latin typeface="Aptos"/>
              </a:rPr>
              <a:t>Staging / Bronze landing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9952" y="3364992"/>
            <a:ext cx="704088" cy="0"/>
          </a:xfrm>
          <a:prstGeom prst="line">
            <a:avLst/>
          </a:prstGeom>
          <a:ln w="25400">
            <a:solidFill>
              <a:srgbClr val="22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28048" y="2944368"/>
            <a:ext cx="1938528" cy="84124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3127248"/>
            <a:ext cx="17007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6F9FD"/>
                </a:solidFill>
                <a:latin typeface="Aptos"/>
              </a:rPr>
              <a:t>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438144"/>
            <a:ext cx="17007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ABBBCF"/>
                </a:solidFill>
                <a:latin typeface="Aptos"/>
              </a:rPr>
              <a:t>Counts • types • samples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4617720"/>
            <a:ext cx="2834640" cy="65836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482803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SILVER  •  Clean &amp; validate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66360" y="4617720"/>
            <a:ext cx="2834640" cy="65836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482803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GOLD  •  Star Schema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617720"/>
            <a:ext cx="2834640" cy="65836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828032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REPORTING  •  SQL / BI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18888" y="4946904"/>
            <a:ext cx="301752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19288" y="4946904"/>
            <a:ext cx="301752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568756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BBBCF"/>
                </a:solidFill>
                <a:latin typeface="Aptos"/>
              </a:rPr>
              <a:t>Later-stage layers are shown to explain the end-to-end direction; they are not Sprint 1 deliverables.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SPRINT 1 • INGESTION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One landing strategy; different readers for different formats.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Each flow reads source records, maps fields and writes to its PostgreSQL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07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1371600" cy="5029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39112"/>
            <a:ext cx="1188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75104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CSV File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984248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TMS • GPS • movements •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478024"/>
            <a:ext cx="859536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624328"/>
            <a:ext cx="1371600" cy="5029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61488"/>
            <a:ext cx="1188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69748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Microsoft Excel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06624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WMS inventory • vendor portal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200400"/>
            <a:ext cx="859536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346704"/>
            <a:ext cx="1371600" cy="5029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83864"/>
            <a:ext cx="1188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41985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JSON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29000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Fleet • shipment tracking • IoT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922776"/>
            <a:ext cx="859536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4069080"/>
            <a:ext cx="1371600" cy="5029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56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06240"/>
            <a:ext cx="1188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XML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1422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XML / StAX parsing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151376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OMS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4645152"/>
            <a:ext cx="859536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4791456"/>
            <a:ext cx="1371600" cy="5029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AE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928616"/>
            <a:ext cx="1188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86460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ERP extraction / SQL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873752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Customer • supplier • warehouse • vehicle •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742432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Implementation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705856"/>
            <a:ext cx="9052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Reader configuration depends on file structure, headers, encoding, repeating XML elements and JSON paths.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PENTAHO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Transformations do the row-level work; jobs coordinate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We discussed keeping pipelines modular and format-specific.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08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166360" cy="34747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267712"/>
            <a:ext cx="2331720" cy="292608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27685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.KTR  • 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6F9FD"/>
                </a:solidFill>
                <a:latin typeface="Aptos Display"/>
              </a:rPr>
              <a:t>A repeatable ingestion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74720"/>
            <a:ext cx="123444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85032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INPUT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3794760"/>
            <a:ext cx="283464" cy="0"/>
          </a:xfrm>
          <a:prstGeom prst="line">
            <a:avLst/>
          </a:prstGeom>
          <a:ln w="1651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3474720"/>
            <a:ext cx="123444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3685032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MAP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3048" y="3794760"/>
            <a:ext cx="283463" cy="0"/>
          </a:xfrm>
          <a:prstGeom prst="line">
            <a:avLst/>
          </a:prstGeom>
          <a:ln w="1651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60520" y="3474720"/>
            <a:ext cx="123444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56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685032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34840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Read file → select/rename fields → write to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956048"/>
            <a:ext cx="4480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BBBCF"/>
                </a:solidFill>
                <a:latin typeface="Aptos"/>
              </a:rPr>
              <a:t>Examples: CSV Input, Excel Input, JSON Input, XML parsing, Table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011680"/>
            <a:ext cx="5257800" cy="34747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8232" y="2267712"/>
            <a:ext cx="1508760" cy="292608"/>
          </a:xfrm>
          <a:prstGeom prst="roundRect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286000"/>
            <a:ext cx="1453895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C182D"/>
                </a:solidFill>
                <a:latin typeface="Aptos"/>
              </a:rPr>
              <a:t>.KJB  • 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43200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6F9FD"/>
                </a:solidFill>
                <a:latin typeface="Aptos Display"/>
              </a:rPr>
              <a:t>Coordinate the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3474720"/>
            <a:ext cx="118872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685032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TMS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80960" y="3794760"/>
            <a:ext cx="301752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65008" y="3474720"/>
            <a:ext cx="118872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8" y="3685032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WMS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72016" y="3794760"/>
            <a:ext cx="301752" cy="0"/>
          </a:xfrm>
          <a:prstGeom prst="line">
            <a:avLst/>
          </a:prstGeom>
          <a:ln w="1524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56064" y="3474720"/>
            <a:ext cx="1188720" cy="640080"/>
          </a:xfrm>
          <a:prstGeom prst="roundRect">
            <a:avLst/>
          </a:prstGeom>
          <a:solidFill>
            <a:srgbClr val="0C182D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01784" y="3685032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ERP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34840"/>
            <a:ext cx="4480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A job can sequence multiple transformations and help standardize operations.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BE"/>
                </a:solidFill>
                <a:latin typeface="Aptos"/>
              </a:rPr>
              <a:t>Design principle: modular pipelines are easier to test, rerun and troubleshoot.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A stable landing area makes ingestion observable.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The database provides persistent tables for source records and a place to validate what arrived.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09  /  14</a:t>
            </a:r>
          </a:p>
        </p:txBody>
      </p:sp>
      <p:sp>
        <p:nvSpPr>
          <p:cNvPr id="7" name="Can 6"/>
          <p:cNvSpPr/>
          <p:nvPr/>
        </p:nvSpPr>
        <p:spPr>
          <a:xfrm>
            <a:off x="822960" y="2011680"/>
            <a:ext cx="2788920" cy="2971800"/>
          </a:xfrm>
          <a:prstGeom prst="can">
            <a:avLst/>
          </a:prstGeom>
          <a:solidFill>
            <a:srgbClr val="16344D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06040"/>
            <a:ext cx="1783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6F9FD"/>
                </a:solidFill>
                <a:latin typeface="Aptos Display"/>
              </a:rPr>
              <a:t>eldp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82112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BE"/>
                </a:solidFill>
                <a:latin typeface="Aptos"/>
              </a:rPr>
              <a:t>PostgreSQL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8444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BBBCF"/>
                </a:solidFill>
                <a:latin typeface="Aptos"/>
              </a:rPr>
              <a:t>localhost : 5432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993392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Schema responsibilities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468880"/>
            <a:ext cx="1828800" cy="47548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AE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606040"/>
            <a:ext cx="16642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source_erp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87752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ERP master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172968"/>
            <a:ext cx="1828800" cy="47548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3310128"/>
            <a:ext cx="16642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staging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Ingested operational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877056"/>
            <a:ext cx="1828800" cy="47548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4014216"/>
            <a:ext cx="16642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95928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Execution and load metadata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581144"/>
            <a:ext cx="1828800" cy="475488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6" y="4718304"/>
            <a:ext cx="16642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silver / 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700016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Later quality and warehouse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413248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Example landing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376672"/>
            <a:ext cx="8229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9FD"/>
                </a:solidFill>
                <a:latin typeface="Aptos"/>
              </a:rPr>
              <a:t>staging.stg_shipment_tracking  •  event ID, shipment ID, event type, timestamp, location and remarks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870448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E55"/>
                </a:solidFill>
                <a:latin typeface="Aptos"/>
              </a:rPr>
              <a:t>Credentials belong in local configuration or environment variables—not in committed scripts.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MAPPING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Correct ingestion starts with correct field semantics.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A row count can match even when fields are mapped incorrectly—so structure and meaning both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10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29968"/>
            <a:ext cx="283464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D3BE"/>
                </a:solidFill>
                <a:latin typeface="Aptos"/>
              </a:rPr>
              <a:t>SOURCE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816352"/>
            <a:ext cx="23317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2148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shipment_id: 'S102'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23317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74136"/>
            <a:ext cx="2148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event_timestamp: '2026-10-01'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67328"/>
            <a:ext cx="23317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49624"/>
            <a:ext cx="2148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distance_km: '42.5'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" y="3310128"/>
            <a:ext cx="731520" cy="0"/>
          </a:xfrm>
          <a:prstGeom prst="line">
            <a:avLst/>
          </a:prstGeom>
          <a:ln w="25400">
            <a:solidFill>
              <a:srgbClr val="22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2029968"/>
            <a:ext cx="2743200" cy="2560320"/>
          </a:xfrm>
          <a:prstGeom prst="roundRect">
            <a:avLst/>
          </a:prstGeom>
          <a:solidFill>
            <a:srgbClr val="17435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30428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PENTAHO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889504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✓  Select / rename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392424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✓  Convert compatible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895344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6F9FD"/>
                </a:solidFill>
                <a:latin typeface="Aptos"/>
              </a:rPr>
              <a:t>✓  Handle parse errors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1192" y="3310128"/>
            <a:ext cx="749808" cy="0"/>
          </a:xfrm>
          <a:prstGeom prst="line">
            <a:avLst/>
          </a:prstGeom>
          <a:ln w="25400">
            <a:solidFill>
              <a:srgbClr val="22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92440" y="2029968"/>
            <a:ext cx="3337560" cy="256032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30428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D94FF"/>
                </a:solidFill>
                <a:latin typeface="Aptos"/>
              </a:rPr>
              <a:t>POSTGRESQL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2816352"/>
            <a:ext cx="27889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2651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shipment_id  VARCHAR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291840"/>
            <a:ext cx="27889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374136"/>
            <a:ext cx="2651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event_timestamp  TIMESTAMP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7" y="3767328"/>
            <a:ext cx="2788920" cy="347472"/>
          </a:xfrm>
          <a:prstGeom prst="roundRect">
            <a:avLst/>
          </a:prstGeom>
          <a:solidFill>
            <a:srgbClr val="1B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849624"/>
            <a:ext cx="2651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9FD"/>
                </a:solidFill>
                <a:latin typeface="Aptos"/>
              </a:rPr>
              <a:t>distance_km  NUMERIC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38928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Design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5102352"/>
            <a:ext cx="9235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Column presence  •  naming  •  data type  •  date parsing  •  null behavior  •  rejected-row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72414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ABBBCF"/>
                </a:solidFill>
                <a:latin typeface="Aptos"/>
              </a:rPr>
              <a:t>Example mapping is illustrative; use the actual source schema and destination table definition for implementation.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LOAD VALIDATION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A successful run is not enough; verify what landed.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Sprint 1 validation focused on whether the source records arrived with expected structure and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11  /  14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01951"/>
            <a:ext cx="438912" cy="438912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79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82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83663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Row-count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92807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Compare source rows read with target rows loaded.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441448"/>
            <a:ext cx="946404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651759"/>
            <a:ext cx="438912" cy="438912"/>
          </a:xfrm>
          <a:prstGeom prst="ellipse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61487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82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33471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Schema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42615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Confirm target table and expected columns exist.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191256"/>
            <a:ext cx="946404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401567"/>
            <a:ext cx="438912" cy="438912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511295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82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83279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Type / parse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392423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Inspect dates, numeric values and conversion failures.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941063"/>
            <a:ext cx="946404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51376"/>
            <a:ext cx="438912" cy="438912"/>
          </a:xfrm>
          <a:prstGeom prst="ellipse">
            <a:avLst/>
          </a:prstGeom>
          <a:solidFill>
            <a:srgbClr val="5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261104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82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33087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Sample inspection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142231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Query target rows and compare them with source records.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4690872"/>
            <a:ext cx="9464040" cy="10972"/>
          </a:xfrm>
          <a:prstGeom prst="rect">
            <a:avLst/>
          </a:prstGeom>
          <a:solidFill>
            <a:srgbClr val="39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A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010912"/>
            <a:ext cx="42062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82D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82896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D"/>
                </a:solidFill>
                <a:latin typeface="Aptos"/>
              </a:rPr>
              <a:t>Execution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892040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ABBBCF"/>
                </a:solidFill>
                <a:latin typeface="Aptos"/>
              </a:rPr>
              <a:t>Record pipeline status, timestamps, counts and error details where implemented.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833872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Example SQL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580644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F9FD"/>
                </a:solidFill>
                <a:latin typeface="Aptos"/>
              </a:rPr>
              <a:t>SELECT COUNT(*) FROM staging.stg_shipment_tracking;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DATA GRAIN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Similar names do not mean the same business 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We kept operational concepts distinct so later models would not mix incompatible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12  /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65960"/>
            <a:ext cx="2331720" cy="438912"/>
          </a:xfrm>
          <a:prstGeom prst="rect">
            <a:avLst/>
          </a:prstGeom>
          <a:solidFill>
            <a:srgbClr val="18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1122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4952" y="1965960"/>
            <a:ext cx="3657600" cy="438912"/>
          </a:xfrm>
          <a:prstGeom prst="rect">
            <a:avLst/>
          </a:prstGeom>
          <a:solidFill>
            <a:srgbClr val="18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084831"/>
            <a:ext cx="34381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WHAT IT REPRESENTS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02552" y="1965960"/>
            <a:ext cx="4069080" cy="438912"/>
          </a:xfrm>
          <a:prstGeom prst="rect">
            <a:avLst/>
          </a:prstGeom>
          <a:solidFill>
            <a:srgbClr val="18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084831"/>
            <a:ext cx="384962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DO NOT CONFUSE IT WITH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04872"/>
            <a:ext cx="233172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51176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TMS shipments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4952" y="2404872"/>
            <a:ext cx="365760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551176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Shipment / transport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2404872"/>
            <a:ext cx="406908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551176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Shipment-tracking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926079"/>
            <a:ext cx="233172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72384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WMS inventory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4952" y="2926079"/>
            <a:ext cx="365760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3072384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Inventory stock snapshot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2926079"/>
            <a:ext cx="406908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072384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Inventory movement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447287"/>
            <a:ext cx="233172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93591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Inventory movements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4952" y="3447287"/>
            <a:ext cx="365760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593591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A quantity change / movement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2552" y="3447287"/>
            <a:ext cx="406908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593591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Current stock balance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968496"/>
            <a:ext cx="233172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14800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Fleet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44952" y="3968496"/>
            <a:ext cx="365760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4114800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Fleet operational event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2552" y="3968496"/>
            <a:ext cx="406908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114800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Vehicle master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489704"/>
            <a:ext cx="233172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636008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GPS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44952" y="4489704"/>
            <a:ext cx="365760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80" y="4636008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Location / telemetry ping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2552" y="4489704"/>
            <a:ext cx="4069080" cy="521207"/>
          </a:xfrm>
          <a:prstGeom prst="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636008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Shipment or fleet event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5010912"/>
            <a:ext cx="233172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157216"/>
            <a:ext cx="2112263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6F9FD"/>
                </a:solidFill>
                <a:latin typeface="Aptos"/>
              </a:rPr>
              <a:t>ERP vehicles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4952" y="5010912"/>
            <a:ext cx="365760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5157216"/>
            <a:ext cx="343814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Vehicle master attributes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2552" y="5010912"/>
            <a:ext cx="4069080" cy="521207"/>
          </a:xfrm>
          <a:prstGeom prst="rect">
            <a:avLst/>
          </a:prstGeom>
          <a:solidFill>
            <a:srgbClr val="112138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157216"/>
            <a:ext cx="38496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i="0">
                <a:solidFill>
                  <a:srgbClr val="ABBBCF"/>
                </a:solidFill>
                <a:latin typeface="Aptos"/>
              </a:rPr>
              <a:t>Fleet event 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89788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D3BE"/>
                </a:solidFill>
                <a:latin typeface="Aptos"/>
              </a:rPr>
              <a:t>This distinction supports clean source-to-target mapping and prevents misleading downstream reporting.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DELIVERY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9FD"/>
                </a:solidFill>
                <a:latin typeface="Aptos Display"/>
              </a:rPr>
              <a:t>The repository is the project’s shared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957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BBBCF"/>
                </a:solidFill>
                <a:latin typeface="Aptos"/>
              </a:rPr>
              <a:t>A clear folder structure separates data, pipelines, SQL, code, documentation and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618488"/>
            <a:ext cx="9144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5074920" cy="38404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39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12848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D3BE"/>
                </a:solidFill>
                <a:latin typeface="Aptos"/>
              </a:rPr>
              <a:t>abc-logistics-data-platform/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70048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docs/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70048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Requirements and deliverable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63240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datasets/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63240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Source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456432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pentaho/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56432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KTR transformations and KJB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49624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python/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849624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Profiling and processing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42816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sql/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242816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DDL, checks and reporting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636008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config/  •  metadata/  •  lineage/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636008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Configuration and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029200"/>
            <a:ext cx="2423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6F9FD"/>
                </a:solidFill>
                <a:latin typeface="Aptos"/>
              </a:rPr>
              <a:t>├─ tests/  •  dashboards/  •  deployment/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029200"/>
            <a:ext cx="25603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Quality and downstream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6F9FD"/>
                </a:solidFill>
                <a:latin typeface="Aptos Display"/>
              </a:rPr>
              <a:t>Sprint 0–1 handoff checklist</a:t>
            </a:r>
          </a:p>
        </p:txBody>
      </p:sp>
      <p:sp>
        <p:nvSpPr>
          <p:cNvPr id="24" name="Oval 23"/>
          <p:cNvSpPr/>
          <p:nvPr/>
        </p:nvSpPr>
        <p:spPr>
          <a:xfrm>
            <a:off x="6291072" y="2724912"/>
            <a:ext cx="164592" cy="164592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97480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9FD"/>
                </a:solidFill>
                <a:latin typeface="Aptos"/>
              </a:rPr>
              <a:t>Requirements and source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44368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Documented / organized</a:t>
            </a:r>
          </a:p>
        </p:txBody>
      </p:sp>
      <p:sp>
        <p:nvSpPr>
          <p:cNvPr id="27" name="Oval 26"/>
          <p:cNvSpPr/>
          <p:nvPr/>
        </p:nvSpPr>
        <p:spPr>
          <a:xfrm>
            <a:off x="6291072" y="3291840"/>
            <a:ext cx="164592" cy="164592"/>
          </a:xfrm>
          <a:prstGeom prst="ellipse">
            <a:avLst/>
          </a:prstGeom>
          <a:solidFill>
            <a:srgbClr val="4D9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264408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9FD"/>
                </a:solidFill>
                <a:latin typeface="Aptos"/>
              </a:rPr>
              <a:t>PostgreSQL schemas and 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11296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Designed / used</a:t>
            </a:r>
          </a:p>
        </p:txBody>
      </p:sp>
      <p:sp>
        <p:nvSpPr>
          <p:cNvPr id="30" name="Oval 29"/>
          <p:cNvSpPr/>
          <p:nvPr/>
        </p:nvSpPr>
        <p:spPr>
          <a:xfrm>
            <a:off x="6291072" y="3858768"/>
            <a:ext cx="164592" cy="164592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831336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9FD"/>
                </a:solidFill>
                <a:latin typeface="Aptos"/>
              </a:rPr>
              <a:t>Format-specific Pentaho 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78224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Implementation evidence to verify</a:t>
            </a:r>
          </a:p>
        </p:txBody>
      </p:sp>
      <p:sp>
        <p:nvSpPr>
          <p:cNvPr id="33" name="Oval 32"/>
          <p:cNvSpPr/>
          <p:nvPr/>
        </p:nvSpPr>
        <p:spPr>
          <a:xfrm>
            <a:off x="6291072" y="4425696"/>
            <a:ext cx="164592" cy="164592"/>
          </a:xfrm>
          <a:prstGeom prst="ellipse">
            <a:avLst/>
          </a:prstGeom>
          <a:solidFill>
            <a:srgbClr val="56D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98264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9FD"/>
                </a:solidFill>
                <a:latin typeface="Aptos"/>
              </a:rPr>
              <a:t>Row-count and sample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45152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Use execution evidence</a:t>
            </a:r>
          </a:p>
        </p:txBody>
      </p:sp>
      <p:sp>
        <p:nvSpPr>
          <p:cNvPr id="36" name="Oval 35"/>
          <p:cNvSpPr/>
          <p:nvPr/>
        </p:nvSpPr>
        <p:spPr>
          <a:xfrm>
            <a:off x="6291072" y="4992624"/>
            <a:ext cx="164592" cy="164592"/>
          </a:xfrm>
          <a:prstGeom prst="ellipse">
            <a:avLst/>
          </a:prstGeom>
          <a:solidFill>
            <a:srgbClr val="AE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965192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6F9FD"/>
                </a:solidFill>
                <a:latin typeface="Aptos"/>
              </a:rPr>
              <a:t>Git commits and pushed artifacts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12079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BBBCF"/>
                </a:solidFill>
                <a:latin typeface="Aptos"/>
              </a:rPr>
              <a:t>Verify in repository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5650992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E55"/>
                </a:solidFill>
                <a:latin typeface="Aptos"/>
              </a:rPr>
              <a:t>Important: a planned folder or design is not proof of a committed, executed deliverable.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863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BBBCF"/>
                </a:solidFill>
                <a:latin typeface="Aptos"/>
              </a:rPr>
              <a:t>ABC LOGISTICS  •  ENTERPRISE LOGISTICS DATA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D3BE"/>
                </a:solidFill>
                <a:latin typeface="Aptos"/>
              </a:rPr>
              <a:t>THE FOUNDATION IS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698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9FD"/>
                </a:solidFill>
                <a:latin typeface="Aptos Display"/>
              </a:rPr>
              <a:t>From planning to a repeatable data landing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38528"/>
            <a:ext cx="9966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BBBCF"/>
                </a:solidFill>
                <a:latin typeface="Aptos"/>
              </a:rPr>
              <a:t>Sprint 0 defined the blueprint. Sprint 1 focused on source ingestion, PostgreSQL landing and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3246120" cy="15544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273552"/>
            <a:ext cx="594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2D3BE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29184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886200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BBBCF"/>
                </a:solidFill>
                <a:latin typeface="Aptos"/>
              </a:rPr>
              <a:t>Scope • source inventory • architecture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0791" y="3822191"/>
            <a:ext cx="411481" cy="0"/>
          </a:xfrm>
          <a:prstGeom prst="line">
            <a:avLst/>
          </a:prstGeom>
          <a:ln w="1905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3063240"/>
            <a:ext cx="3246120" cy="15544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4D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3273552"/>
            <a:ext cx="594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D94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886200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BBBCF"/>
                </a:solidFill>
                <a:latin typeface="Aptos"/>
              </a:rPr>
              <a:t>Pentaho • PostgreSQL • mapping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5552" y="3822191"/>
            <a:ext cx="411480" cy="0"/>
          </a:xfrm>
          <a:prstGeom prst="line">
            <a:avLst/>
          </a:prstGeom>
          <a:ln w="19050">
            <a:solidFill>
              <a:srgbClr val="ABBB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66760" y="3063240"/>
            <a:ext cx="3246120" cy="1554480"/>
          </a:xfrm>
          <a:prstGeom prst="roundRect">
            <a:avLst/>
          </a:prstGeom>
          <a:solidFill>
            <a:srgbClr val="132541"/>
          </a:solidFill>
          <a:ln w="1270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273552"/>
            <a:ext cx="594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BE55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29184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9FD"/>
                </a:solidFill>
                <a:latin typeface="Apto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886200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BBBCF"/>
                </a:solidFill>
                <a:latin typeface="Aptos"/>
              </a:rPr>
              <a:t>Counts • schema • samples • traceability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66360"/>
            <a:ext cx="10652760" cy="685800"/>
          </a:xfrm>
          <a:prstGeom prst="roundRect">
            <a:avLst/>
          </a:prstGeom>
          <a:solidFill>
            <a:srgbClr val="174351"/>
          </a:solidFill>
          <a:ln w="12700">
            <a:solidFill>
              <a:srgbClr val="22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38581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D3BE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349240"/>
            <a:ext cx="8412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D"/>
                </a:solidFill>
                <a:latin typeface="Aptos"/>
              </a:rPr>
              <a:t>Profile and clean the landed data, then build and validate the Gold Star Schema.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36208"/>
            <a:ext cx="4754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BBBCF"/>
                </a:solidFill>
                <a:latin typeface="Aptos"/>
              </a:rPr>
              <a:t>ABC LOGISTICS  •  ELDP / UC7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BBBCF"/>
                </a:solidFill>
                <a:latin typeface="Aptos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ELDP Sprint 0 &amp; Sprint 1 — Executive Presentation</dc:title>
  <dc:subject>ABC Logistics Enterprise Logistics Data Platform (UC7)</dc:subject>
  <dc:creator>OpenAI</dc:creator>
  <cp:keywords>Data Engineering, ELDP, Pentaho, PostgreSQL, Sprint 0, Sprint 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