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77" r:id="rId4"/>
    <p:sldId id="278" r:id="rId5"/>
    <p:sldId id="279" r:id="rId6"/>
    <p:sldId id="259" r:id="rId7"/>
    <p:sldId id="260" r:id="rId8"/>
    <p:sldId id="262" r:id="rId9"/>
    <p:sldId id="266" r:id="rId10"/>
    <p:sldId id="269" r:id="rId11"/>
    <p:sldId id="276" r:id="rId12"/>
    <p:sldId id="272" r:id="rId13"/>
    <p:sldId id="274" r:id="rId14"/>
    <p:sldId id="27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1018953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217920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2346930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5F100C-58C4-4937-900A-C74C3D8CC6AF}"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2017464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5F100C-58C4-4937-900A-C74C3D8CC6AF}" type="datetimeFigureOut">
              <a:rPr lang="en-IN" smtClean="0"/>
              <a:t>21-08-2026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868592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5F100C-58C4-4937-900A-C74C3D8CC6AF}" type="datetimeFigureOut">
              <a:rPr lang="en-IN" smtClean="0"/>
              <a:t>21-08-2026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2843367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5F100C-58C4-4937-900A-C74C3D8CC6AF}" type="datetimeFigureOut">
              <a:rPr lang="en-IN" smtClean="0"/>
              <a:t>21-08-2026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4205031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5F100C-58C4-4937-900A-C74C3D8CC6AF}"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3957642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5F100C-58C4-4937-900A-C74C3D8CC6AF}"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2849976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5F100C-58C4-4937-900A-C74C3D8CC6AF}"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2107610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1285932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2729108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18507257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1780803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230605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3695847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5F100C-58C4-4937-900A-C74C3D8CC6AF}"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1CFF4B-5844-40EC-9484-EAB659823132}" type="slidenum">
              <a:rPr lang="en-IN" smtClean="0"/>
              <a:t>‹#›</a:t>
            </a:fld>
            <a:endParaRPr lang="en-IN"/>
          </a:p>
        </p:txBody>
      </p:sp>
    </p:spTree>
    <p:extLst>
      <p:ext uri="{BB962C8B-B14F-4D97-AF65-F5344CB8AC3E}">
        <p14:creationId xmlns:p14="http://schemas.microsoft.com/office/powerpoint/2010/main" val="4013877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75F100C-58C4-4937-900A-C74C3D8CC6AF}" type="datetimeFigureOut">
              <a:rPr lang="en-IN" smtClean="0"/>
              <a:t>21-08-2026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C1CFF4B-5844-40EC-9484-EAB659823132}" type="slidenum">
              <a:rPr lang="en-IN" smtClean="0"/>
              <a:t>‹#›</a:t>
            </a:fld>
            <a:endParaRPr lang="en-IN"/>
          </a:p>
        </p:txBody>
      </p:sp>
    </p:spTree>
    <p:extLst>
      <p:ext uri="{BB962C8B-B14F-4D97-AF65-F5344CB8AC3E}">
        <p14:creationId xmlns:p14="http://schemas.microsoft.com/office/powerpoint/2010/main" val="25137962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75847-A480-AECF-B89D-BA92E7CF1CA0}"/>
              </a:ext>
            </a:extLst>
          </p:cNvPr>
          <p:cNvSpPr>
            <a:spLocks noGrp="1"/>
          </p:cNvSpPr>
          <p:nvPr>
            <p:ph type="ctrTitle"/>
          </p:nvPr>
        </p:nvSpPr>
        <p:spPr>
          <a:xfrm>
            <a:off x="785813" y="771526"/>
            <a:ext cx="11015662" cy="2090207"/>
          </a:xfrm>
        </p:spPr>
        <p:txBody>
          <a:bodyPr wrap="square">
            <a:normAutofit/>
          </a:bodyPr>
          <a:lstStyle/>
          <a:p>
            <a:r>
              <a:rPr dirty="0"/>
              <a:t>Enterprise Logistics Data Platform</a:t>
            </a:r>
          </a:p>
        </p:txBody>
      </p:sp>
      <p:sp>
        <p:nvSpPr>
          <p:cNvPr id="3" name="Subtitle 2">
            <a:extLst>
              <a:ext uri="{FF2B5EF4-FFF2-40B4-BE49-F238E27FC236}">
                <a16:creationId xmlns:a16="http://schemas.microsoft.com/office/drawing/2014/main" id="{27867655-4FC1-737B-DC43-82BEDAEC6713}"/>
              </a:ext>
            </a:extLst>
          </p:cNvPr>
          <p:cNvSpPr>
            <a:spLocks noGrp="1"/>
          </p:cNvSpPr>
          <p:nvPr>
            <p:ph type="subTitle" idx="1"/>
          </p:nvPr>
        </p:nvSpPr>
        <p:spPr>
          <a:xfrm>
            <a:off x="4515377" y="3996266"/>
            <a:ext cx="6987645" cy="1810173"/>
          </a:xfrm>
        </p:spPr>
        <p:txBody>
          <a:bodyPr wrap="square">
            <a:normAutofit/>
          </a:bodyPr>
          <a:lstStyle/>
          <a:p>
            <a:pPr algn="l"/>
            <a:r>
              <a:rPr dirty="0"/>
              <a:t>DONE BY:
</a:t>
            </a:r>
            <a:r>
              <a:rPr lang="en-IN" dirty="0"/>
              <a:t>VEDANT BADVE</a:t>
            </a:r>
          </a:p>
          <a:p>
            <a:pPr algn="l"/>
            <a:r>
              <a:rPr lang="en-IN" dirty="0"/>
              <a:t>GAURAV KHAVANEWADKAR</a:t>
            </a:r>
          </a:p>
          <a:p>
            <a:pPr algn="l"/>
            <a:r>
              <a:rPr lang="en-IN" dirty="0"/>
              <a:t>CHANDRA MANIKANTA</a:t>
            </a:r>
            <a:endParaRPr dirty="0"/>
          </a:p>
        </p:txBody>
      </p:sp>
    </p:spTree>
    <p:extLst>
      <p:ext uri="{BB962C8B-B14F-4D97-AF65-F5344CB8AC3E}">
        <p14:creationId xmlns:p14="http://schemas.microsoft.com/office/powerpoint/2010/main" val="1669290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92173-1D05-1F29-0376-157F9A5F9C6F}"/>
              </a:ext>
            </a:extLst>
          </p:cNvPr>
          <p:cNvSpPr>
            <a:spLocks noGrp="1"/>
          </p:cNvSpPr>
          <p:nvPr>
            <p:ph type="title"/>
          </p:nvPr>
        </p:nvSpPr>
        <p:spPr>
          <a:xfrm>
            <a:off x="1484311" y="-714374"/>
            <a:ext cx="10018713" cy="3214687"/>
          </a:xfrm>
        </p:spPr>
        <p:txBody>
          <a:bodyPr wrap="square"/>
          <a:lstStyle/>
          <a:p>
            <a:r>
              <a:t>Enterprise Logistics Data Platform (ELDP)</a:t>
            </a:r>
          </a:p>
        </p:txBody>
      </p:sp>
      <p:sp>
        <p:nvSpPr>
          <p:cNvPr id="3" name="Content Placeholder 2">
            <a:extLst>
              <a:ext uri="{FF2B5EF4-FFF2-40B4-BE49-F238E27FC236}">
                <a16:creationId xmlns:a16="http://schemas.microsoft.com/office/drawing/2014/main" id="{914D311D-2698-32B5-273E-E7A8A4DE4027}"/>
              </a:ext>
            </a:extLst>
          </p:cNvPr>
          <p:cNvSpPr>
            <a:spLocks noGrp="1"/>
          </p:cNvSpPr>
          <p:nvPr>
            <p:ph idx="1"/>
          </p:nvPr>
        </p:nvSpPr>
        <p:spPr>
          <a:xfrm>
            <a:off x="1484310" y="2057401"/>
            <a:ext cx="10018713" cy="3733800"/>
          </a:xfrm>
        </p:spPr>
        <p:txBody>
          <a:bodyPr wrap="square">
            <a:normAutofit fontScale="92500" lnSpcReduction="10000"/>
          </a:bodyPr>
          <a:lstStyle/>
          <a:p>
            <a:r>
              <a:rPr dirty="0"/>
              <a:t>Building a Unified Logistics &amp; Supply Chain Analytics Platform
Covered Sprints:
Sprint 0 — Project Initiation &amp; Architecture
Sprint 1 — Data Discovery &amp; Ingestion
This project focuses on building an enterprise-level logistics data platform. The objective is to integrate data from transportation, warehouse, fleet, order, inventory and delivery systems into a unified foundation for operational analytics and reporting.
In this presentation, we are focusing specifically on Sprint 0 and Sprint 1.</a:t>
            </a:r>
          </a:p>
        </p:txBody>
      </p:sp>
    </p:spTree>
    <p:extLst>
      <p:ext uri="{BB962C8B-B14F-4D97-AF65-F5344CB8AC3E}">
        <p14:creationId xmlns:p14="http://schemas.microsoft.com/office/powerpoint/2010/main" val="979171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FFD5A-24A1-D086-97D5-8C332D3D5502}"/>
              </a:ext>
            </a:extLst>
          </p:cNvPr>
          <p:cNvSpPr>
            <a:spLocks noGrp="1"/>
          </p:cNvSpPr>
          <p:nvPr>
            <p:ph type="title"/>
          </p:nvPr>
        </p:nvSpPr>
        <p:spPr>
          <a:xfrm>
            <a:off x="1484311" y="1"/>
            <a:ext cx="10018713" cy="800099"/>
          </a:xfrm>
        </p:spPr>
        <p:txBody>
          <a:bodyPr wrap="square"/>
          <a:lstStyle/>
          <a:p>
            <a:r>
              <a:t>Problem Statement</a:t>
            </a:r>
          </a:p>
        </p:txBody>
      </p:sp>
      <p:sp>
        <p:nvSpPr>
          <p:cNvPr id="3" name="Content Placeholder 2">
            <a:extLst>
              <a:ext uri="{FF2B5EF4-FFF2-40B4-BE49-F238E27FC236}">
                <a16:creationId xmlns:a16="http://schemas.microsoft.com/office/drawing/2014/main" id="{A84512C3-E20F-72F9-0F6C-177D1DEADDF7}"/>
              </a:ext>
            </a:extLst>
          </p:cNvPr>
          <p:cNvSpPr>
            <a:spLocks noGrp="1"/>
          </p:cNvSpPr>
          <p:nvPr>
            <p:ph idx="1"/>
          </p:nvPr>
        </p:nvSpPr>
        <p:spPr>
          <a:xfrm>
            <a:off x="1914525" y="900113"/>
            <a:ext cx="9588498" cy="5957886"/>
          </a:xfrm>
        </p:spPr>
        <p:txBody>
          <a:bodyPr wrap="square">
            <a:normAutofit/>
          </a:bodyPr>
          <a:lstStyle/>
          <a:p>
            <a:pPr marL="0" indent="0" algn="just">
              <a:buNone/>
            </a:pPr>
            <a:r>
              <a:rPr lang="en-IN" dirty="0"/>
              <a:t>ABC Logistics Ltd. generates large volumes of data from multiple systems such as TMS, WMS, fleet management, GPS, OMS, inventory, and delivery platforms. Since these systems operate independently, the data is fragmented and difficult to combine, making it challenging to track shipments, monitor warehouse and fleet operations, optimize deliveries, and generate reliable enterprise-wide insights. The absence of a unified data platform limits visibility and makes logistics data-driven decision-making more difficult.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FFD5A-24A1-D086-97D5-8C332D3D5502}"/>
              </a:ext>
            </a:extLst>
          </p:cNvPr>
          <p:cNvSpPr>
            <a:spLocks noGrp="1"/>
          </p:cNvSpPr>
          <p:nvPr>
            <p:ph type="title"/>
          </p:nvPr>
        </p:nvSpPr>
        <p:spPr>
          <a:xfrm>
            <a:off x="1484311" y="1"/>
            <a:ext cx="10018713" cy="800099"/>
          </a:xfrm>
        </p:spPr>
        <p:txBody>
          <a:bodyPr wrap="square"/>
          <a:lstStyle/>
          <a:p>
            <a:r>
              <a:t>Project Scope</a:t>
            </a:r>
          </a:p>
        </p:txBody>
      </p:sp>
      <p:sp>
        <p:nvSpPr>
          <p:cNvPr id="3" name="Content Placeholder 2">
            <a:extLst>
              <a:ext uri="{FF2B5EF4-FFF2-40B4-BE49-F238E27FC236}">
                <a16:creationId xmlns:a16="http://schemas.microsoft.com/office/drawing/2014/main" id="{A84512C3-E20F-72F9-0F6C-177D1DEADDF7}"/>
              </a:ext>
            </a:extLst>
          </p:cNvPr>
          <p:cNvSpPr>
            <a:spLocks noGrp="1"/>
          </p:cNvSpPr>
          <p:nvPr>
            <p:ph idx="1"/>
          </p:nvPr>
        </p:nvSpPr>
        <p:spPr>
          <a:xfrm>
            <a:off x="1914525" y="900113"/>
            <a:ext cx="9588498" cy="5957886"/>
          </a:xfrm>
        </p:spPr>
        <p:txBody>
          <a:bodyPr wrap="square">
            <a:normAutofit/>
          </a:bodyPr>
          <a:lstStyle/>
          <a:p>
            <a:pPr marL="0" indent="0" algn="just">
              <a:buNone/>
            </a:pPr>
            <a:r>
              <a:rPr lang="en-IN" dirty="0"/>
              <a:t>The project focuses on developing an </a:t>
            </a:r>
            <a:r>
              <a:rPr lang="en-IN" b="1" dirty="0"/>
              <a:t>Enterprise Logistics Data Platform (ELDP)</a:t>
            </a:r>
            <a:r>
              <a:rPr lang="en-IN" dirty="0"/>
              <a:t> that integrates data from multiple logistics source systems and prepares it for analytics and reporting. The scope includes data discovery and ingestion using </a:t>
            </a:r>
            <a:r>
              <a:rPr lang="en-IN" b="1" dirty="0"/>
              <a:t>Pentaho</a:t>
            </a:r>
            <a:r>
              <a:rPr lang="en-IN" dirty="0"/>
              <a:t>, storage in </a:t>
            </a:r>
            <a:r>
              <a:rPr lang="en-IN" b="1" dirty="0"/>
              <a:t>PostgreSQL</a:t>
            </a:r>
            <a:r>
              <a:rPr lang="en-IN" dirty="0"/>
              <a:t>, data profiling and cleaning using </a:t>
            </a:r>
            <a:r>
              <a:rPr lang="en-IN" b="1" dirty="0"/>
              <a:t>Python/Pandas</a:t>
            </a:r>
            <a:r>
              <a:rPr lang="en-IN" dirty="0"/>
              <a:t>, version control through </a:t>
            </a:r>
            <a:r>
              <a:rPr lang="en-IN" b="1" dirty="0"/>
              <a:t>Git/GitHub</a:t>
            </a:r>
            <a:r>
              <a:rPr lang="en-IN" dirty="0"/>
              <a:t>, and reporting through </a:t>
            </a:r>
            <a:r>
              <a:rPr lang="en-IN" b="1" dirty="0"/>
              <a:t>Power BI</a:t>
            </a:r>
            <a:r>
              <a:rPr lang="en-IN" dirty="0"/>
              <a:t>. The platform covers the movement of data from source systems through ingestion and storage to analytics, while also supporting metadata, audit logs, data lineage, and enterprise documentation. </a:t>
            </a:r>
          </a:p>
          <a:p>
            <a:pPr algn="just"/>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FFD5A-24A1-D086-97D5-8C332D3D5502}"/>
              </a:ext>
            </a:extLst>
          </p:cNvPr>
          <p:cNvSpPr>
            <a:spLocks noGrp="1"/>
          </p:cNvSpPr>
          <p:nvPr>
            <p:ph type="title"/>
          </p:nvPr>
        </p:nvSpPr>
        <p:spPr>
          <a:xfrm>
            <a:off x="1484311" y="1"/>
            <a:ext cx="10018713" cy="800099"/>
          </a:xfrm>
        </p:spPr>
        <p:txBody>
          <a:bodyPr wrap="square"/>
          <a:lstStyle/>
          <a:p>
            <a:r>
              <a:t>Proposed Solution</a:t>
            </a:r>
          </a:p>
        </p:txBody>
      </p:sp>
      <p:sp>
        <p:nvSpPr>
          <p:cNvPr id="3" name="Content Placeholder 2">
            <a:extLst>
              <a:ext uri="{FF2B5EF4-FFF2-40B4-BE49-F238E27FC236}">
                <a16:creationId xmlns:a16="http://schemas.microsoft.com/office/drawing/2014/main" id="{A84512C3-E20F-72F9-0F6C-177D1DEADDF7}"/>
              </a:ext>
            </a:extLst>
          </p:cNvPr>
          <p:cNvSpPr>
            <a:spLocks noGrp="1"/>
          </p:cNvSpPr>
          <p:nvPr>
            <p:ph idx="1"/>
          </p:nvPr>
        </p:nvSpPr>
        <p:spPr>
          <a:xfrm>
            <a:off x="1819656" y="800100"/>
            <a:ext cx="9683367" cy="6057899"/>
          </a:xfrm>
        </p:spPr>
        <p:txBody>
          <a:bodyPr wrap="square">
            <a:normAutofit fontScale="70000" lnSpcReduction="20000"/>
          </a:bodyPr>
          <a:lstStyle/>
          <a:p>
            <a:pPr marL="0" indent="0">
              <a:buNone/>
            </a:pPr>
            <a:r>
              <a:rPr lang="en-IN" dirty="0"/>
              <a:t>The proposed </a:t>
            </a:r>
            <a:r>
              <a:rPr lang="en-IN" b="1" dirty="0"/>
              <a:t>Enterprise Logistics Data Platform (ELDP)</a:t>
            </a:r>
            <a:r>
              <a:rPr lang="en-IN" dirty="0"/>
              <a:t> provides a centralized workflow to integrate, process, store, and </a:t>
            </a:r>
            <a:r>
              <a:rPr lang="en-IN" dirty="0" err="1"/>
              <a:t>analyze</a:t>
            </a:r>
            <a:r>
              <a:rPr lang="en-IN" dirty="0"/>
              <a:t> logistics data from multiple independent systems. </a:t>
            </a:r>
            <a:r>
              <a:rPr lang="en-IN" b="1" dirty="0"/>
              <a:t>Pentaho</a:t>
            </a:r>
            <a:r>
              <a:rPr lang="en-IN" dirty="0"/>
              <a:t> is used to ingest and transform data from different formats, while </a:t>
            </a:r>
            <a:r>
              <a:rPr lang="en-IN" b="1" dirty="0"/>
              <a:t>PostgreSQL</a:t>
            </a:r>
            <a:r>
              <a:rPr lang="en-IN" dirty="0"/>
              <a:t> stores the raw data in staging and provides the enterprise data storage layer. </a:t>
            </a:r>
            <a:r>
              <a:rPr lang="en-IN" b="1" dirty="0"/>
              <a:t>Python/Pandas</a:t>
            </a:r>
            <a:r>
              <a:rPr lang="en-IN" dirty="0"/>
              <a:t> is used for data profiling, cleaning, and standardization. The processed data is then made available for </a:t>
            </a:r>
            <a:r>
              <a:rPr lang="en-IN" b="1" dirty="0"/>
              <a:t>Power BI</a:t>
            </a:r>
            <a:r>
              <a:rPr lang="en-IN" dirty="0"/>
              <a:t> dashboards and operational reporting. </a:t>
            </a:r>
            <a:r>
              <a:rPr lang="en-IN" b="1" dirty="0"/>
              <a:t>Git/GitHub</a:t>
            </a:r>
            <a:r>
              <a:rPr lang="en-IN" dirty="0"/>
              <a:t> supports version control and collaborative development throughout the process. </a:t>
            </a:r>
          </a:p>
          <a:p>
            <a:pPr marL="0" indent="0">
              <a:buNone/>
            </a:pPr>
            <a:r>
              <a:rPr lang="en-IN" b="1" dirty="0"/>
              <a:t>Solution Flow</a:t>
            </a:r>
          </a:p>
          <a:p>
            <a:pPr marL="0" indent="0">
              <a:buNone/>
            </a:pPr>
            <a:r>
              <a:rPr lang="en-IN" b="1" dirty="0"/>
              <a:t>Logistics Data Sources</a:t>
            </a:r>
            <a:br>
              <a:rPr lang="en-IN" dirty="0"/>
            </a:br>
            <a:r>
              <a:rPr lang="en-IN" dirty="0"/>
              <a:t>TMS • WMS • Fleet • GPS • OMS • Inventory • Vendor • IoT</a:t>
            </a:r>
            <a:br>
              <a:rPr lang="en-IN" dirty="0"/>
            </a:br>
            <a:r>
              <a:rPr lang="en-IN" dirty="0"/>
              <a:t>↓</a:t>
            </a:r>
            <a:br>
              <a:rPr lang="en-IN" dirty="0"/>
            </a:br>
            <a:r>
              <a:rPr lang="en-IN" b="1" dirty="0"/>
              <a:t>Pentaho ETL</a:t>
            </a:r>
            <a:br>
              <a:rPr lang="en-IN" dirty="0"/>
            </a:br>
            <a:r>
              <a:rPr lang="en-IN" dirty="0"/>
              <a:t>Extract → Transform → Load</a:t>
            </a:r>
            <a:br>
              <a:rPr lang="en-IN" dirty="0"/>
            </a:br>
            <a:r>
              <a:rPr lang="en-IN" dirty="0"/>
              <a:t>↓</a:t>
            </a:r>
            <a:br>
              <a:rPr lang="en-IN" dirty="0"/>
            </a:br>
            <a:r>
              <a:rPr lang="en-IN" b="1" dirty="0"/>
              <a:t>PostgreSQL – Staging Layer</a:t>
            </a:r>
            <a:br>
              <a:rPr lang="en-IN" dirty="0"/>
            </a:br>
            <a:r>
              <a:rPr lang="en-IN" dirty="0"/>
              <a:t>Raw Logistics Data</a:t>
            </a:r>
            <a:br>
              <a:rPr lang="en-IN" dirty="0"/>
            </a:br>
            <a:r>
              <a:rPr lang="en-IN" dirty="0"/>
              <a:t>↓</a:t>
            </a:r>
            <a:br>
              <a:rPr lang="en-IN" dirty="0"/>
            </a:br>
            <a:r>
              <a:rPr lang="en-IN" b="1" dirty="0"/>
              <a:t>Python / Pandas</a:t>
            </a:r>
            <a:br>
              <a:rPr lang="en-IN" dirty="0"/>
            </a:br>
            <a:r>
              <a:rPr lang="en-IN" dirty="0"/>
              <a:t>Profiling → Cleaning → Standardization</a:t>
            </a:r>
            <a:br>
              <a:rPr lang="en-IN" dirty="0"/>
            </a:br>
            <a:r>
              <a:rPr lang="en-IN" dirty="0"/>
              <a:t>↓</a:t>
            </a:r>
            <a:br>
              <a:rPr lang="en-IN" dirty="0"/>
            </a:br>
            <a:r>
              <a:rPr lang="en-IN" b="1" dirty="0"/>
              <a:t>PostgreSQL – Enterprise Data Warehouse</a:t>
            </a:r>
            <a:br>
              <a:rPr lang="en-IN" dirty="0"/>
            </a:br>
            <a:r>
              <a:rPr lang="en-IN" dirty="0"/>
              <a:t>Curated &amp; Structured Data</a:t>
            </a:r>
            <a:br>
              <a:rPr lang="en-IN" dirty="0"/>
            </a:br>
            <a:r>
              <a:rPr lang="en-IN" dirty="0"/>
              <a:t>↓</a:t>
            </a:r>
            <a:br>
              <a:rPr lang="en-IN" dirty="0"/>
            </a:br>
            <a:r>
              <a:rPr lang="en-IN" b="1" dirty="0"/>
              <a:t>Power BI</a:t>
            </a:r>
            <a:br>
              <a:rPr lang="en-IN" dirty="0"/>
            </a:br>
            <a:r>
              <a:rPr lang="en-IN" dirty="0"/>
              <a:t>Dashboards → Logistics Analytics → Executive Reporting</a:t>
            </a:r>
          </a:p>
          <a:p>
            <a:pPr marL="0" indent="0">
              <a:buNone/>
            </a:pPr>
            <a:r>
              <a:rPr lang="en-IN" b="1" dirty="0"/>
              <a:t>Git / GitHub</a:t>
            </a:r>
            <a:r>
              <a:rPr lang="en-IN" dirty="0"/>
              <a:t> → Version Control &amp; Collaboration</a:t>
            </a:r>
          </a:p>
          <a:p>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562FB-B9EB-F87E-5D8F-513AB156D5EC}"/>
              </a:ext>
            </a:extLst>
          </p:cNvPr>
          <p:cNvSpPr>
            <a:spLocks noGrp="1"/>
          </p:cNvSpPr>
          <p:nvPr>
            <p:ph type="title"/>
          </p:nvPr>
        </p:nvSpPr>
        <p:spPr>
          <a:xfrm>
            <a:off x="1484311" y="-242888"/>
            <a:ext cx="10018713" cy="1400176"/>
          </a:xfrm>
        </p:spPr>
        <p:txBody>
          <a:bodyPr wrap="square"/>
          <a:lstStyle/>
          <a:p>
            <a:r>
              <a:rPr dirty="0"/>
              <a:t>Project Objective</a:t>
            </a:r>
          </a:p>
        </p:txBody>
      </p:sp>
      <p:sp>
        <p:nvSpPr>
          <p:cNvPr id="3" name="Content Placeholder 2">
            <a:extLst>
              <a:ext uri="{FF2B5EF4-FFF2-40B4-BE49-F238E27FC236}">
                <a16:creationId xmlns:a16="http://schemas.microsoft.com/office/drawing/2014/main" id="{44EFE508-8838-87D5-3794-61B9521D73C5}"/>
              </a:ext>
            </a:extLst>
          </p:cNvPr>
          <p:cNvSpPr>
            <a:spLocks noGrp="1"/>
          </p:cNvSpPr>
          <p:nvPr>
            <p:ph idx="1"/>
          </p:nvPr>
        </p:nvSpPr>
        <p:spPr>
          <a:xfrm>
            <a:off x="1685925" y="1014413"/>
            <a:ext cx="9817098" cy="5843586"/>
          </a:xfrm>
        </p:spPr>
        <p:txBody>
          <a:bodyPr wrap="square">
            <a:normAutofit fontScale="92500" lnSpcReduction="20000"/>
          </a:bodyPr>
          <a:lstStyle/>
          <a:p>
            <a:pPr algn="just"/>
            <a:r>
              <a:rPr dirty="0"/>
              <a:t>Collect data from multiple heterogeneous enterprise systems
Clean, validate and </a:t>
            </a:r>
            <a:r>
              <a:rPr lang="en-IN" dirty="0"/>
              <a:t>standardise</a:t>
            </a:r>
            <a:r>
              <a:rPr dirty="0"/>
              <a:t> logistics data
Store curated data in PostgreSQL
Maintain metadata, audit logs and data lineage
Support shipment, warehouse, fleet and inventory analytics
Enable executive and operational reporting
Use Git/GitHub for collaborative development
Produce enterprise-standard documentation
The main objective is not simply to collect data.
The platform should take data through different stages — from collection and validation to storage and analytics.
For example, shipment data from the TMS and GPS systems should be collected, processed and eventually made available for delivery and fleet analytics.
The platform also needs governance features such as metadata, audit logs and data lineage so that the organization can understand and track its data.</a:t>
            </a:r>
          </a:p>
        </p:txBody>
      </p:sp>
    </p:spTree>
    <p:extLst>
      <p:ext uri="{BB962C8B-B14F-4D97-AF65-F5344CB8AC3E}">
        <p14:creationId xmlns:p14="http://schemas.microsoft.com/office/powerpoint/2010/main" val="2344667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C2708-E050-A478-56A2-7640E3AD59B0}"/>
              </a:ext>
            </a:extLst>
          </p:cNvPr>
          <p:cNvSpPr>
            <a:spLocks noGrp="1"/>
          </p:cNvSpPr>
          <p:nvPr>
            <p:ph type="title"/>
          </p:nvPr>
        </p:nvSpPr>
        <p:spPr>
          <a:xfrm>
            <a:off x="1484311" y="1"/>
            <a:ext cx="10018713" cy="1066800"/>
          </a:xfrm>
        </p:spPr>
        <p:txBody>
          <a:bodyPr/>
          <a:lstStyle/>
          <a:p>
            <a:r>
              <a:rPr lang="en-IN" dirty="0"/>
              <a:t>Technology Stack</a:t>
            </a:r>
          </a:p>
        </p:txBody>
      </p:sp>
      <p:graphicFrame>
        <p:nvGraphicFramePr>
          <p:cNvPr id="4" name="Content Placeholder 3">
            <a:extLst>
              <a:ext uri="{FF2B5EF4-FFF2-40B4-BE49-F238E27FC236}">
                <a16:creationId xmlns:a16="http://schemas.microsoft.com/office/drawing/2014/main" id="{73900E46-5790-C414-CE08-AD728696C4B0}"/>
              </a:ext>
            </a:extLst>
          </p:cNvPr>
          <p:cNvGraphicFramePr>
            <a:graphicFrameLocks noGrp="1"/>
          </p:cNvGraphicFramePr>
          <p:nvPr>
            <p:ph idx="1"/>
            <p:extLst>
              <p:ext uri="{D42A27DB-BD31-4B8C-83A1-F6EECF244321}">
                <p14:modId xmlns:p14="http://schemas.microsoft.com/office/powerpoint/2010/main" val="4226983332"/>
              </p:ext>
            </p:extLst>
          </p:nvPr>
        </p:nvGraphicFramePr>
        <p:xfrm>
          <a:off x="1484313" y="1428750"/>
          <a:ext cx="10018710" cy="4204968"/>
        </p:xfrm>
        <a:graphic>
          <a:graphicData uri="http://schemas.openxmlformats.org/drawingml/2006/table">
            <a:tbl>
              <a:tblPr firstRow="1" bandRow="1">
                <a:tableStyleId>{5C22544A-7EE6-4342-B048-85BDC9FD1C3A}</a:tableStyleId>
              </a:tblPr>
              <a:tblGrid>
                <a:gridCol w="2287587">
                  <a:extLst>
                    <a:ext uri="{9D8B030D-6E8A-4147-A177-3AD203B41FA5}">
                      <a16:colId xmlns:a16="http://schemas.microsoft.com/office/drawing/2014/main" val="3486244562"/>
                    </a:ext>
                  </a:extLst>
                </a:gridCol>
                <a:gridCol w="2914650">
                  <a:extLst>
                    <a:ext uri="{9D8B030D-6E8A-4147-A177-3AD203B41FA5}">
                      <a16:colId xmlns:a16="http://schemas.microsoft.com/office/drawing/2014/main" val="808681194"/>
                    </a:ext>
                  </a:extLst>
                </a:gridCol>
                <a:gridCol w="4816473">
                  <a:extLst>
                    <a:ext uri="{9D8B030D-6E8A-4147-A177-3AD203B41FA5}">
                      <a16:colId xmlns:a16="http://schemas.microsoft.com/office/drawing/2014/main" val="4041684130"/>
                    </a:ext>
                  </a:extLst>
                </a:gridCol>
              </a:tblGrid>
              <a:tr h="525621">
                <a:tc>
                  <a:txBody>
                    <a:bodyPr/>
                    <a:lstStyle/>
                    <a:p>
                      <a:r>
                        <a:t>Component</a:t>
                      </a:r>
                    </a:p>
                  </a:txBody>
                  <a:tcPr/>
                </a:tc>
                <a:tc>
                  <a:txBody>
                    <a:bodyPr/>
                    <a:lstStyle/>
                    <a:p>
                      <a:r>
                        <a:t>Technology</a:t>
                      </a:r>
                    </a:p>
                  </a:txBody>
                  <a:tcPr/>
                </a:tc>
                <a:tc>
                  <a:txBody>
                    <a:bodyPr/>
                    <a:lstStyle/>
                    <a:p>
                      <a:r>
                        <a:t>Purpose</a:t>
                      </a:r>
                    </a:p>
                  </a:txBody>
                  <a:tcPr/>
                </a:tc>
                <a:extLst>
                  <a:ext uri="{0D108BD9-81ED-4DB2-BD59-A6C34878D82A}">
                    <a16:rowId xmlns:a16="http://schemas.microsoft.com/office/drawing/2014/main" val="3402012738"/>
                  </a:ext>
                </a:extLst>
              </a:tr>
              <a:tr h="525621">
                <a:tc>
                  <a:txBody>
                    <a:bodyPr/>
                    <a:lstStyle/>
                    <a:p>
                      <a:r>
                        <a:t>ETL</a:t>
                      </a:r>
                    </a:p>
                  </a:txBody>
                  <a:tcPr/>
                </a:tc>
                <a:tc>
                  <a:txBody>
                    <a:bodyPr/>
                    <a:lstStyle/>
                    <a:p>
                      <a:r>
                        <a:t>Pentaho Data Integration</a:t>
                      </a:r>
                    </a:p>
                  </a:txBody>
                  <a:tcPr/>
                </a:tc>
                <a:tc>
                  <a:txBody>
                    <a:bodyPr/>
                    <a:lstStyle/>
                    <a:p>
                      <a:r>
                        <a:t>Data ingestion and ETL transformations</a:t>
                      </a:r>
                    </a:p>
                  </a:txBody>
                  <a:tcPr/>
                </a:tc>
                <a:extLst>
                  <a:ext uri="{0D108BD9-81ED-4DB2-BD59-A6C34878D82A}">
                    <a16:rowId xmlns:a16="http://schemas.microsoft.com/office/drawing/2014/main" val="1979196927"/>
                  </a:ext>
                </a:extLst>
              </a:tr>
              <a:tr h="525621">
                <a:tc>
                  <a:txBody>
                    <a:bodyPr/>
                    <a:lstStyle/>
                    <a:p>
                      <a:r>
                        <a:t>Database</a:t>
                      </a:r>
                    </a:p>
                  </a:txBody>
                  <a:tcPr/>
                </a:tc>
                <a:tc>
                  <a:txBody>
                    <a:bodyPr/>
                    <a:lstStyle/>
                    <a:p>
                      <a:r>
                        <a:t>PostgreSQL</a:t>
                      </a:r>
                    </a:p>
                  </a:txBody>
                  <a:tcPr/>
                </a:tc>
                <a:tc>
                  <a:txBody>
                    <a:bodyPr/>
                    <a:lstStyle/>
                    <a:p>
                      <a:r>
                        <a:t>Staging and enterprise data storage</a:t>
                      </a:r>
                    </a:p>
                  </a:txBody>
                  <a:tcPr/>
                </a:tc>
                <a:extLst>
                  <a:ext uri="{0D108BD9-81ED-4DB2-BD59-A6C34878D82A}">
                    <a16:rowId xmlns:a16="http://schemas.microsoft.com/office/drawing/2014/main" val="2243530026"/>
                  </a:ext>
                </a:extLst>
              </a:tr>
              <a:tr h="525621">
                <a:tc>
                  <a:txBody>
                    <a:bodyPr/>
                    <a:lstStyle/>
                    <a:p>
                      <a:r>
                        <a:t>Programming</a:t>
                      </a:r>
                    </a:p>
                  </a:txBody>
                  <a:tcPr/>
                </a:tc>
                <a:tc>
                  <a:txBody>
                    <a:bodyPr/>
                    <a:lstStyle/>
                    <a:p>
                      <a:r>
                        <a:t>Python / Pandas</a:t>
                      </a:r>
                    </a:p>
                  </a:txBody>
                  <a:tcPr/>
                </a:tc>
                <a:tc>
                  <a:txBody>
                    <a:bodyPr/>
                    <a:lstStyle/>
                    <a:p>
                      <a:r>
                        <a:t>Data processing and profiling</a:t>
                      </a:r>
                    </a:p>
                  </a:txBody>
                  <a:tcPr/>
                </a:tc>
                <a:extLst>
                  <a:ext uri="{0D108BD9-81ED-4DB2-BD59-A6C34878D82A}">
                    <a16:rowId xmlns:a16="http://schemas.microsoft.com/office/drawing/2014/main" val="2866863584"/>
                  </a:ext>
                </a:extLst>
              </a:tr>
              <a:tr h="525621">
                <a:tc>
                  <a:txBody>
                    <a:bodyPr/>
                    <a:lstStyle/>
                    <a:p>
                      <a:r>
                        <a:t>Version Control</a:t>
                      </a:r>
                    </a:p>
                  </a:txBody>
                  <a:tcPr/>
                </a:tc>
                <a:tc>
                  <a:txBody>
                    <a:bodyPr/>
                    <a:lstStyle/>
                    <a:p>
                      <a:r>
                        <a:t>Git / GitHub</a:t>
                      </a:r>
                    </a:p>
                  </a:txBody>
                  <a:tcPr/>
                </a:tc>
                <a:tc>
                  <a:txBody>
                    <a:bodyPr/>
                    <a:lstStyle/>
                    <a:p>
                      <a:r>
                        <a:t>Collaboration and version control</a:t>
                      </a:r>
                    </a:p>
                  </a:txBody>
                  <a:tcPr/>
                </a:tc>
                <a:extLst>
                  <a:ext uri="{0D108BD9-81ED-4DB2-BD59-A6C34878D82A}">
                    <a16:rowId xmlns:a16="http://schemas.microsoft.com/office/drawing/2014/main" val="4127613918"/>
                  </a:ext>
                </a:extLst>
              </a:tr>
              <a:tr h="525621">
                <a:tc>
                  <a:txBody>
                    <a:bodyPr/>
                    <a:lstStyle/>
                    <a:p>
                      <a:r>
                        <a:t>Reporting</a:t>
                      </a:r>
                    </a:p>
                  </a:txBody>
                  <a:tcPr/>
                </a:tc>
                <a:tc>
                  <a:txBody>
                    <a:bodyPr/>
                    <a:lstStyle/>
                    <a:p>
                      <a:r>
                        <a:t>Power BI</a:t>
                      </a:r>
                    </a:p>
                  </a:txBody>
                  <a:tcPr/>
                </a:tc>
                <a:tc>
                  <a:txBody>
                    <a:bodyPr/>
                    <a:lstStyle/>
                    <a:p>
                      <a:r>
                        <a:t>Business dashboards and reporting</a:t>
                      </a:r>
                    </a:p>
                  </a:txBody>
                  <a:tcPr/>
                </a:tc>
                <a:extLst>
                  <a:ext uri="{0D108BD9-81ED-4DB2-BD59-A6C34878D82A}">
                    <a16:rowId xmlns:a16="http://schemas.microsoft.com/office/drawing/2014/main" val="830039144"/>
                  </a:ext>
                </a:extLst>
              </a:tr>
              <a:tr h="525621">
                <a:tc>
                  <a:txBody>
                    <a:bodyPr/>
                    <a:lstStyle/>
                    <a:p>
                      <a:r>
                        <a:t>Documentation</a:t>
                      </a:r>
                    </a:p>
                  </a:txBody>
                  <a:tcPr/>
                </a:tc>
                <a:tc>
                  <a:txBody>
                    <a:bodyPr/>
                    <a:lstStyle/>
                    <a:p>
                      <a:r>
                        <a:t>Markdown / MS Word</a:t>
                      </a:r>
                    </a:p>
                  </a:txBody>
                  <a:tcPr/>
                </a:tc>
                <a:tc>
                  <a:txBody>
                    <a:bodyPr/>
                    <a:lstStyle/>
                    <a:p>
                      <a:r>
                        <a:t>Technical documentation</a:t>
                      </a:r>
                    </a:p>
                  </a:txBody>
                  <a:tcPr/>
                </a:tc>
                <a:extLst>
                  <a:ext uri="{0D108BD9-81ED-4DB2-BD59-A6C34878D82A}">
                    <a16:rowId xmlns:a16="http://schemas.microsoft.com/office/drawing/2014/main" val="594257871"/>
                  </a:ext>
                </a:extLst>
              </a:tr>
              <a:tr h="525621">
                <a:tc>
                  <a:txBody>
                    <a:bodyPr/>
                    <a:lstStyle/>
                    <a:p>
                      <a:r>
                        <a:t>Methodology</a:t>
                      </a:r>
                    </a:p>
                  </a:txBody>
                  <a:tcPr/>
                </a:tc>
                <a:tc>
                  <a:txBody>
                    <a:bodyPr/>
                    <a:lstStyle/>
                    <a:p>
                      <a:r>
                        <a:t>Agile Scrum</a:t>
                      </a:r>
                    </a:p>
                  </a:txBody>
                  <a:tcPr/>
                </a:tc>
                <a:tc>
                  <a:txBody>
                    <a:bodyPr/>
                    <a:lstStyle/>
                    <a:p>
                      <a:r>
                        <a:t>Sprint-based project development</a:t>
                      </a:r>
                    </a:p>
                  </a:txBody>
                  <a:tcPr/>
                </a:tc>
                <a:extLst>
                  <a:ext uri="{0D108BD9-81ED-4DB2-BD59-A6C34878D82A}">
                    <a16:rowId xmlns:a16="http://schemas.microsoft.com/office/drawing/2014/main" val="2441990748"/>
                  </a:ext>
                </a:extLst>
              </a:tr>
            </a:tbl>
          </a:graphicData>
        </a:graphic>
      </p:graphicFrame>
    </p:spTree>
    <p:extLst>
      <p:ext uri="{BB962C8B-B14F-4D97-AF65-F5344CB8AC3E}">
        <p14:creationId xmlns:p14="http://schemas.microsoft.com/office/powerpoint/2010/main" val="96459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661CE-EFB0-90E0-DE96-39935B3C682C}"/>
              </a:ext>
            </a:extLst>
          </p:cNvPr>
          <p:cNvSpPr>
            <a:spLocks noGrp="1"/>
          </p:cNvSpPr>
          <p:nvPr>
            <p:ph type="title"/>
          </p:nvPr>
        </p:nvSpPr>
        <p:spPr>
          <a:xfrm>
            <a:off x="1484311" y="-300037"/>
            <a:ext cx="10018713" cy="1159574"/>
          </a:xfrm>
        </p:spPr>
        <p:txBody>
          <a:bodyPr wrap="square"/>
          <a:lstStyle/>
          <a:p>
            <a:r>
              <a:rPr dirty="0"/>
              <a:t>Sprint Roadmap</a:t>
            </a:r>
          </a:p>
        </p:txBody>
      </p:sp>
      <p:sp>
        <p:nvSpPr>
          <p:cNvPr id="3" name="Content Placeholder 2">
            <a:extLst>
              <a:ext uri="{FF2B5EF4-FFF2-40B4-BE49-F238E27FC236}">
                <a16:creationId xmlns:a16="http://schemas.microsoft.com/office/drawing/2014/main" id="{37650CC2-C794-779B-6FAE-1BFEE5EE5C25}"/>
              </a:ext>
            </a:extLst>
          </p:cNvPr>
          <p:cNvSpPr>
            <a:spLocks noGrp="1"/>
          </p:cNvSpPr>
          <p:nvPr>
            <p:ph idx="1"/>
          </p:nvPr>
        </p:nvSpPr>
        <p:spPr>
          <a:xfrm>
            <a:off x="1700784" y="859537"/>
            <a:ext cx="10018713" cy="5669852"/>
          </a:xfrm>
        </p:spPr>
        <p:txBody>
          <a:bodyPr wrap="square">
            <a:normAutofit fontScale="92500" lnSpcReduction="20000"/>
          </a:bodyPr>
          <a:lstStyle/>
          <a:p>
            <a:pPr algn="just"/>
            <a:r>
              <a:rPr lang="en-IN" b="1" dirty="0"/>
              <a:t>Sprint 0 — Project Initiation &amp; Architecture</a:t>
            </a:r>
          </a:p>
          <a:p>
            <a:pPr algn="just"/>
            <a:r>
              <a:rPr lang="en-IN" dirty="0"/>
              <a:t>Sprint 0 focuses on establishing the business and technical foundation of the Enterprise Logistics Data Platform. The sprint begins by understanding the logistics business problem and identifying the key stakeholders involved, such as logistics managers, warehouse operations, fleet management, procurement, customer service, and executive management. It also involves identifying the major data sources, defining the project scope, preparing the Business Requirement Document (BRD), designing the high-level solution architecture, and setting up the Git repository and project structure. </a:t>
            </a:r>
          </a:p>
          <a:p>
            <a:pPr algn="just"/>
            <a:r>
              <a:rPr lang="en-IN" b="1" dirty="0"/>
              <a:t>Sprint 1 — Data Discovery &amp; Ingestion</a:t>
            </a:r>
          </a:p>
          <a:p>
            <a:pPr algn="just"/>
            <a:r>
              <a:rPr lang="en-IN" dirty="0"/>
              <a:t>Sprint 1 focuses on discovering logistics data and building the initial data ingestion layer. The team </a:t>
            </a:r>
            <a:r>
              <a:rPr lang="en-IN" dirty="0" err="1"/>
              <a:t>analyzes</a:t>
            </a:r>
            <a:r>
              <a:rPr lang="en-IN" dirty="0"/>
              <a:t> different source systems and prepares a Data Dictionary to understand the available data and its fields. Pentaho transformations are then developed to ingest data from formats such as CSV, Excel, JSON, XML, and SQL. The raw data is loaded into PostgreSQL staging tables, while logging and exception handling are implemented to monitor and manage ingestion issues. Successful ingestion work is also committed to Git for version control. </a:t>
            </a:r>
          </a:p>
          <a:p>
            <a:pPr marL="0" indent="0">
              <a:buNone/>
            </a:pPr>
            <a:endParaRPr dirty="0"/>
          </a:p>
        </p:txBody>
      </p:sp>
    </p:spTree>
    <p:extLst>
      <p:ext uri="{BB962C8B-B14F-4D97-AF65-F5344CB8AC3E}">
        <p14:creationId xmlns:p14="http://schemas.microsoft.com/office/powerpoint/2010/main" val="3019437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BC23C-5DE0-8857-074F-40B23D8F3D53}"/>
              </a:ext>
            </a:extLst>
          </p:cNvPr>
          <p:cNvSpPr>
            <a:spLocks noGrp="1"/>
          </p:cNvSpPr>
          <p:nvPr>
            <p:ph type="title"/>
          </p:nvPr>
        </p:nvSpPr>
        <p:spPr>
          <a:xfrm>
            <a:off x="1484311" y="128589"/>
            <a:ext cx="10018713" cy="800100"/>
          </a:xfrm>
        </p:spPr>
        <p:txBody>
          <a:bodyPr wrap="square">
            <a:normAutofit/>
          </a:bodyPr>
          <a:lstStyle/>
          <a:p>
            <a:r>
              <a:rPr dirty="0"/>
              <a:t>Sprint 0: Project Setup &amp; Deliverables</a:t>
            </a:r>
            <a:endParaRPr lang="en-IN" dirty="0"/>
          </a:p>
        </p:txBody>
      </p:sp>
      <p:sp>
        <p:nvSpPr>
          <p:cNvPr id="3" name="Content Placeholder 2">
            <a:extLst>
              <a:ext uri="{FF2B5EF4-FFF2-40B4-BE49-F238E27FC236}">
                <a16:creationId xmlns:a16="http://schemas.microsoft.com/office/drawing/2014/main" id="{E39312C8-14A3-6A3F-8085-E20CB386E327}"/>
              </a:ext>
            </a:extLst>
          </p:cNvPr>
          <p:cNvSpPr>
            <a:spLocks noGrp="1"/>
          </p:cNvSpPr>
          <p:nvPr>
            <p:ph idx="1"/>
          </p:nvPr>
        </p:nvSpPr>
        <p:spPr>
          <a:xfrm>
            <a:off x="1484310" y="1143001"/>
            <a:ext cx="10018713" cy="5029200"/>
          </a:xfrm>
        </p:spPr>
        <p:txBody>
          <a:bodyPr wrap="square">
            <a:normAutofit fontScale="85000" lnSpcReduction="10000"/>
          </a:bodyPr>
          <a:lstStyle/>
          <a:p>
            <a:r>
              <a:rPr lang="en-IN" dirty="0"/>
              <a:t>Sprint 0 focuses on establishing the technical, organizational, and planning foundation for the Enterprise Logistics Data Platform before development begins. The team sets up the Git repository and enterprise project structure to organize and manage project artifacts. A Product Backlog and Sprint Backlog are prepared to define and prioritize the work. The team also develops the Solution Architecture to provide a high-level technical blueprint and prepares the Project Charter to formally establish the project direction.</a:t>
            </a:r>
          </a:p>
          <a:p>
            <a:r>
              <a:rPr lang="en-IN" b="1" dirty="0"/>
              <a:t>Key Deliverables:</a:t>
            </a:r>
            <a:endParaRPr lang="en-IN" dirty="0"/>
          </a:p>
          <a:p>
            <a:pPr lvl="0"/>
            <a:r>
              <a:rPr lang="en-IN" b="1" dirty="0"/>
              <a:t>Business Requirement Document (BRD)</a:t>
            </a:r>
            <a:r>
              <a:rPr lang="en-IN" dirty="0"/>
              <a:t> — Defines the business requirements and project needs. </a:t>
            </a:r>
          </a:p>
          <a:p>
            <a:pPr lvl="0"/>
            <a:r>
              <a:rPr lang="en-IN" b="1" dirty="0"/>
              <a:t>Solution Architecture</a:t>
            </a:r>
            <a:r>
              <a:rPr lang="en-IN" dirty="0"/>
              <a:t> — Provides the high-level technical design of the platform. </a:t>
            </a:r>
          </a:p>
          <a:p>
            <a:pPr lvl="0"/>
            <a:r>
              <a:rPr lang="en-IN" b="1" dirty="0"/>
              <a:t>Git Repository</a:t>
            </a:r>
            <a:r>
              <a:rPr lang="en-IN" dirty="0"/>
              <a:t> — Enables version control and collaborative development. </a:t>
            </a:r>
          </a:p>
          <a:p>
            <a:pPr lvl="0"/>
            <a:r>
              <a:rPr lang="en-IN" b="1" dirty="0"/>
              <a:t>Sprint Backlog</a:t>
            </a:r>
            <a:r>
              <a:rPr lang="en-IN" dirty="0"/>
              <a:t> — Lists and prioritizes the work planned for the sprint. </a:t>
            </a:r>
          </a:p>
          <a:p>
            <a:pPr lvl="0"/>
            <a:r>
              <a:rPr lang="en-IN" b="1" dirty="0"/>
              <a:t>Project Charter</a:t>
            </a:r>
            <a:r>
              <a:rPr lang="en-IN" dirty="0"/>
              <a:t> — Establishes the project's scope, direction, and overall foundation. </a:t>
            </a:r>
          </a:p>
          <a:p>
            <a:pPr marL="0" indent="0">
              <a:buNone/>
            </a:pPr>
            <a:endParaRPr dirty="0"/>
          </a:p>
        </p:txBody>
      </p:sp>
    </p:spTree>
    <p:extLst>
      <p:ext uri="{BB962C8B-B14F-4D97-AF65-F5344CB8AC3E}">
        <p14:creationId xmlns:p14="http://schemas.microsoft.com/office/powerpoint/2010/main" val="649159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1628-8DD2-AD1D-6109-D4F70858CDA9}"/>
              </a:ext>
            </a:extLst>
          </p:cNvPr>
          <p:cNvSpPr>
            <a:spLocks noGrp="1"/>
          </p:cNvSpPr>
          <p:nvPr>
            <p:ph type="title"/>
          </p:nvPr>
        </p:nvSpPr>
        <p:spPr>
          <a:xfrm>
            <a:off x="1484311" y="685801"/>
            <a:ext cx="10018713" cy="1443038"/>
          </a:xfrm>
        </p:spPr>
        <p:txBody>
          <a:bodyPr wrap="square"/>
          <a:lstStyle/>
          <a:p>
            <a:r>
              <a:t>Sprint 1: Data Discovery &amp; Ingestion</a:t>
            </a:r>
            <a:endParaRPr lang="en-IN" dirty="0"/>
          </a:p>
        </p:txBody>
      </p:sp>
      <p:sp>
        <p:nvSpPr>
          <p:cNvPr id="3" name="Content Placeholder 2">
            <a:extLst>
              <a:ext uri="{FF2B5EF4-FFF2-40B4-BE49-F238E27FC236}">
                <a16:creationId xmlns:a16="http://schemas.microsoft.com/office/drawing/2014/main" id="{3BD3FC31-5D1E-24EB-057F-CE07F3684E05}"/>
              </a:ext>
            </a:extLst>
          </p:cNvPr>
          <p:cNvSpPr>
            <a:spLocks noGrp="1"/>
          </p:cNvSpPr>
          <p:nvPr>
            <p:ph idx="1"/>
          </p:nvPr>
        </p:nvSpPr>
        <p:spPr/>
        <p:txBody>
          <a:bodyPr wrap="square">
            <a:normAutofit fontScale="92500" lnSpcReduction="10000"/>
          </a:bodyPr>
          <a:lstStyle/>
          <a:p>
            <a:r>
              <a:rPr dirty="0"/>
              <a:t>Sprint 1 is where the actual data engineering process begins.
The first step is data discovery — understanding the different source systems and their data.
Then Pentaho is used to build ETL transformations.
The incoming raw data is loaded into PostgreSQL staging tables.
At this stage, the focus is primarily on successfully bringing raw logistics data into the platform. Later stages will perform deeper profiling, cleansing and transformation.</a:t>
            </a:r>
          </a:p>
        </p:txBody>
      </p:sp>
    </p:spTree>
    <p:extLst>
      <p:ext uri="{BB962C8B-B14F-4D97-AF65-F5344CB8AC3E}">
        <p14:creationId xmlns:p14="http://schemas.microsoft.com/office/powerpoint/2010/main" val="310130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2B00D027-9A7F-E3D9-4936-CF820444E1A3}"/>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28A4A409-9242-444A-AC1F-809866828B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49" name="Freeform 6">
              <a:extLst>
                <a:ext uri="{FF2B5EF4-FFF2-40B4-BE49-F238E27FC236}">
                  <a16:creationId xmlns:a16="http://schemas.microsoft.com/office/drawing/2014/main" id="{ABF65108-5AB6-40BD-BCAF-526D8E3091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50" name="Freeform 7">
              <a:extLst>
                <a:ext uri="{FF2B5EF4-FFF2-40B4-BE49-F238E27FC236}">
                  <a16:creationId xmlns:a16="http://schemas.microsoft.com/office/drawing/2014/main" id="{C77C904B-BC3A-472F-BB70-8750D41E4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51" name="Freeform 8">
              <a:extLst>
                <a:ext uri="{FF2B5EF4-FFF2-40B4-BE49-F238E27FC236}">
                  <a16:creationId xmlns:a16="http://schemas.microsoft.com/office/drawing/2014/main" id="{E910D569-2CFD-4010-B886-2F31BB8EC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52" name="Freeform 9">
              <a:extLst>
                <a:ext uri="{FF2B5EF4-FFF2-40B4-BE49-F238E27FC236}">
                  <a16:creationId xmlns:a16="http://schemas.microsoft.com/office/drawing/2014/main" id="{5A816932-FBAD-46C0-AA92-336589A5A9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53" name="Freeform 10">
              <a:extLst>
                <a:ext uri="{FF2B5EF4-FFF2-40B4-BE49-F238E27FC236}">
                  <a16:creationId xmlns:a16="http://schemas.microsoft.com/office/drawing/2014/main" id="{3D914BDD-E5E0-4DFB-8072-5B498F94A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54" name="Freeform 11">
              <a:extLst>
                <a:ext uri="{FF2B5EF4-FFF2-40B4-BE49-F238E27FC236}">
                  <a16:creationId xmlns:a16="http://schemas.microsoft.com/office/drawing/2014/main" id="{ED9E392E-46C2-4B84-A121-9B2BC452F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1">
            <a:extLst>
              <a:ext uri="{FF2B5EF4-FFF2-40B4-BE49-F238E27FC236}">
                <a16:creationId xmlns:a16="http://schemas.microsoft.com/office/drawing/2014/main" id="{EE17E99C-1798-948D-AF28-788EB9920A6B}"/>
              </a:ext>
            </a:extLst>
          </p:cNvPr>
          <p:cNvSpPr>
            <a:spLocks noGrp="1"/>
          </p:cNvSpPr>
          <p:nvPr>
            <p:ph type="title"/>
          </p:nvPr>
        </p:nvSpPr>
        <p:spPr>
          <a:xfrm>
            <a:off x="1484312" y="685800"/>
            <a:ext cx="2812385" cy="1752599"/>
          </a:xfrm>
        </p:spPr>
        <p:txBody>
          <a:bodyPr>
            <a:normAutofit/>
          </a:bodyPr>
          <a:lstStyle/>
          <a:p>
            <a:r>
              <a:rPr lang="en-IN" sz="3600" dirty="0"/>
              <a:t>Architecture</a:t>
            </a:r>
          </a:p>
        </p:txBody>
      </p:sp>
      <p:sp>
        <p:nvSpPr>
          <p:cNvPr id="55" name="Content Placeholder 7">
            <a:extLst>
              <a:ext uri="{FF2B5EF4-FFF2-40B4-BE49-F238E27FC236}">
                <a16:creationId xmlns:a16="http://schemas.microsoft.com/office/drawing/2014/main" id="{89D0A442-07EE-1EA0-616D-1FE895776978}"/>
              </a:ext>
            </a:extLst>
          </p:cNvPr>
          <p:cNvSpPr>
            <a:spLocks noGrp="1"/>
          </p:cNvSpPr>
          <p:nvPr>
            <p:ph idx="1"/>
          </p:nvPr>
        </p:nvSpPr>
        <p:spPr>
          <a:xfrm flipH="1">
            <a:off x="4296696" y="5745481"/>
            <a:ext cx="45719" cy="60959"/>
          </a:xfrm>
        </p:spPr>
        <p:txBody>
          <a:bodyPr>
            <a:normAutofit fontScale="25000" lnSpcReduction="20000"/>
          </a:bodyPr>
          <a:lstStyle/>
          <a:p>
            <a:endParaRPr lang="en-US" sz="1800" dirty="0"/>
          </a:p>
        </p:txBody>
      </p:sp>
      <p:sp>
        <p:nvSpPr>
          <p:cNvPr id="56" name="Rounded Rectangle 16">
            <a:extLst>
              <a:ext uri="{FF2B5EF4-FFF2-40B4-BE49-F238E27FC236}">
                <a16:creationId xmlns:a16="http://schemas.microsoft.com/office/drawing/2014/main" id="{21ECAAB0-702B-4C08-B30F-0AFAC3479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E3F3FB31-CE55-1280-EB76-A4E029D2A5C8}"/>
              </a:ext>
            </a:extLst>
          </p:cNvPr>
          <p:cNvPicPr>
            <a:picLocks noChangeAspect="1"/>
          </p:cNvPicPr>
          <p:nvPr/>
        </p:nvPicPr>
        <p:blipFill>
          <a:blip r:embed="rId3"/>
          <a:stretch>
            <a:fillRect/>
          </a:stretch>
        </p:blipFill>
        <p:spPr>
          <a:xfrm>
            <a:off x="4727524" y="768096"/>
            <a:ext cx="6647611" cy="5038344"/>
          </a:xfrm>
          <a:prstGeom prst="rect">
            <a:avLst/>
          </a:prstGeom>
        </p:spPr>
      </p:pic>
    </p:spTree>
    <p:extLst>
      <p:ext uri="{BB962C8B-B14F-4D97-AF65-F5344CB8AC3E}">
        <p14:creationId xmlns:p14="http://schemas.microsoft.com/office/powerpoint/2010/main" val="3117619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4DA7-7469-A7D7-DE33-6BF72009B9B0}"/>
              </a:ext>
            </a:extLst>
          </p:cNvPr>
          <p:cNvSpPr>
            <a:spLocks noGrp="1"/>
          </p:cNvSpPr>
          <p:nvPr>
            <p:ph type="title"/>
          </p:nvPr>
        </p:nvSpPr>
        <p:spPr>
          <a:xfrm>
            <a:off x="1484311" y="228601"/>
            <a:ext cx="10018713" cy="742950"/>
          </a:xfrm>
        </p:spPr>
        <p:txBody>
          <a:bodyPr wrap="square"/>
          <a:lstStyle/>
          <a:p>
            <a:r>
              <a:t>Sprint 1: Data Formats &amp; ETL</a:t>
            </a:r>
          </a:p>
        </p:txBody>
      </p:sp>
      <p:sp>
        <p:nvSpPr>
          <p:cNvPr id="3" name="Content Placeholder 2">
            <a:extLst>
              <a:ext uri="{FF2B5EF4-FFF2-40B4-BE49-F238E27FC236}">
                <a16:creationId xmlns:a16="http://schemas.microsoft.com/office/drawing/2014/main" id="{8E0EF83A-86B0-8079-5755-3A5FA0C2F5E3}"/>
              </a:ext>
            </a:extLst>
          </p:cNvPr>
          <p:cNvSpPr>
            <a:spLocks noGrp="1"/>
          </p:cNvSpPr>
          <p:nvPr>
            <p:ph idx="1"/>
          </p:nvPr>
        </p:nvSpPr>
        <p:spPr>
          <a:xfrm>
            <a:off x="1484310" y="1614489"/>
            <a:ext cx="10018713" cy="4557710"/>
          </a:xfrm>
        </p:spPr>
        <p:txBody>
          <a:bodyPr wrap="square">
            <a:normAutofit fontScale="70000" lnSpcReduction="20000"/>
          </a:bodyPr>
          <a:lstStyle/>
          <a:p>
            <a:r>
              <a:rPr dirty="0"/>
              <a:t>Data Pipeline Controls
Logging
Exception Handling
Successful Git Commit
The source systems may provide data in different formats.
For example, one source may provide CSV files while another may provide JSON or XML.
Pentaho Data Integration, also called Spoon, is used to create transformations that handle these different formats.
The basic ETL flow is:
Extract → Transform → Load
The extracted information is processed through Pentaho and loaded into PostgreSQL staging tables.
Logging helps track pipeline execution, while exception handling helps identify and manage ingestion problems.</a:t>
            </a:r>
          </a:p>
        </p:txBody>
      </p:sp>
    </p:spTree>
    <p:extLst>
      <p:ext uri="{BB962C8B-B14F-4D97-AF65-F5344CB8AC3E}">
        <p14:creationId xmlns:p14="http://schemas.microsoft.com/office/powerpoint/2010/main" val="99858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C10A9-1B1E-BF2F-19DB-4413AD6B4467}"/>
              </a:ext>
            </a:extLst>
          </p:cNvPr>
          <p:cNvSpPr>
            <a:spLocks noGrp="1"/>
          </p:cNvSpPr>
          <p:nvPr>
            <p:ph type="title"/>
          </p:nvPr>
        </p:nvSpPr>
        <p:spPr>
          <a:xfrm>
            <a:off x="1484311" y="0"/>
            <a:ext cx="10018713" cy="657225"/>
          </a:xfrm>
        </p:spPr>
        <p:txBody>
          <a:bodyPr wrap="square">
            <a:normAutofit fontScale="90000"/>
          </a:bodyPr>
          <a:lstStyle/>
          <a:p>
            <a:r>
              <a:t>Sprint 1: Deliverables &amp; Outcome</a:t>
            </a:r>
          </a:p>
        </p:txBody>
      </p:sp>
      <p:sp>
        <p:nvSpPr>
          <p:cNvPr id="3" name="Content Placeholder 2">
            <a:extLst>
              <a:ext uri="{FF2B5EF4-FFF2-40B4-BE49-F238E27FC236}">
                <a16:creationId xmlns:a16="http://schemas.microsoft.com/office/drawing/2014/main" id="{6A4299EE-2249-C3C1-9547-F7ADAD1FC202}"/>
              </a:ext>
            </a:extLst>
          </p:cNvPr>
          <p:cNvSpPr>
            <a:spLocks noGrp="1"/>
          </p:cNvSpPr>
          <p:nvPr>
            <p:ph idx="1"/>
          </p:nvPr>
        </p:nvSpPr>
        <p:spPr>
          <a:xfrm>
            <a:off x="1484310" y="800101"/>
            <a:ext cx="10018713" cy="5715000"/>
          </a:xfrm>
        </p:spPr>
        <p:txBody>
          <a:bodyPr wrap="square">
            <a:normAutofit fontScale="77500" lnSpcReduction="20000"/>
          </a:bodyPr>
          <a:lstStyle/>
          <a:p>
            <a:r>
              <a:rPr dirty="0"/>
              <a:t>Sprint 1 Deliverables
1. Source Inventory
A documented list of the logistics data sources identified during data discovery.
2. Data Dictionary
A structured description of the available logistics data and its fields.
3. Pentaho ETL Pipelines
Pentaho transformations developed to ingest data from different source systems and formats.
4. Staging Database
PostgreSQL staging tables containing the ingested raw logistics data.
5. Git Commit History
Version-controlled history of the ingestion code and project changes.
Expected Outcome
A functioning Logistics Raw Data Landing Zone containing data from multiple heterogeneous enterprise systems.
At the end of Sprint 1, the initial data ingestion layer should be operational and ready for the next stage: data profiling, quality assessment, standardization and warehouse development.</a:t>
            </a:r>
          </a:p>
        </p:txBody>
      </p:sp>
    </p:spTree>
    <p:extLst>
      <p:ext uri="{BB962C8B-B14F-4D97-AF65-F5344CB8AC3E}">
        <p14:creationId xmlns:p14="http://schemas.microsoft.com/office/powerpoint/2010/main" val="645562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12752D-518B-6F9A-A314-0CFF690EBAFF}"/>
              </a:ext>
            </a:extLst>
          </p:cNvPr>
          <p:cNvSpPr>
            <a:spLocks noGrp="1"/>
          </p:cNvSpPr>
          <p:nvPr>
            <p:ph idx="1"/>
          </p:nvPr>
        </p:nvSpPr>
        <p:spPr>
          <a:xfrm>
            <a:off x="1484310" y="1443039"/>
            <a:ext cx="10018713" cy="4486274"/>
          </a:xfrm>
        </p:spPr>
        <p:txBody>
          <a:bodyPr wrap="square">
            <a:normAutofit/>
          </a:bodyPr>
          <a:lstStyle/>
          <a:p>
            <a:pPr marL="0" indent="0" algn="ctr">
              <a:buNone/>
            </a:pPr>
            <a:r>
              <a:rPr sz="3600" dirty="0"/>
              <a:t>THANK YOU</a:t>
            </a:r>
          </a:p>
        </p:txBody>
      </p:sp>
    </p:spTree>
    <p:extLst>
      <p:ext uri="{BB962C8B-B14F-4D97-AF65-F5344CB8AC3E}">
        <p14:creationId xmlns:p14="http://schemas.microsoft.com/office/powerpoint/2010/main" val="36136533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99</TotalTime>
  <Words>1396</Words>
  <Application>Microsoft Office PowerPoint</Application>
  <PresentationFormat>Widescreen</PresentationFormat>
  <Paragraphs>63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Corbel</vt:lpstr>
      <vt:lpstr>Parallax</vt:lpstr>
      <vt:lpstr>Enterprise Logistics Data Platform</vt:lpstr>
      <vt:lpstr>Enterprise Logistics Data Platform (ELDP)</vt:lpstr>
      <vt:lpstr>Problem Statement</vt:lpstr>
      <vt:lpstr>Project Scope</vt:lpstr>
      <vt:lpstr>Proposed Solution</vt:lpstr>
      <vt:lpstr>Project Objective</vt:lpstr>
      <vt:lpstr>Technology Stack</vt:lpstr>
      <vt:lpstr>Sprint Roadmap</vt:lpstr>
      <vt:lpstr>Sprint 0: Project Setup &amp; Deliverables</vt:lpstr>
      <vt:lpstr>Sprint 1: Data Discovery &amp; Ingestion</vt:lpstr>
      <vt:lpstr>Architecture</vt:lpstr>
      <vt:lpstr>Sprint 1: Data Formats &amp; ETL</vt:lpstr>
      <vt:lpstr>Sprint 1: Deliverables &amp; Outcome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Saravanan Dharman</dc:creator>
  <cp:lastModifiedBy>VEDANT BADVE</cp:lastModifiedBy>
  <cp:revision>14</cp:revision>
  <dcterms:created xsi:type="dcterms:W3CDTF">2026-08-20T14:11:19Z</dcterms:created>
  <dcterms:modified xsi:type="dcterms:W3CDTF">2026-08-21T06:44:12Z</dcterms:modified>
</cp:coreProperties>
</file>